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15"/>
  </p:notesMasterIdLst>
  <p:sldIdLst>
    <p:sldId id="267" r:id="rId2"/>
    <p:sldId id="256" r:id="rId3"/>
    <p:sldId id="268" r:id="rId4"/>
    <p:sldId id="270" r:id="rId5"/>
    <p:sldId id="266" r:id="rId6"/>
    <p:sldId id="257" r:id="rId7"/>
    <p:sldId id="258" r:id="rId8"/>
    <p:sldId id="275" r:id="rId9"/>
    <p:sldId id="259" r:id="rId10"/>
    <p:sldId id="271" r:id="rId11"/>
    <p:sldId id="272" r:id="rId12"/>
    <p:sldId id="273" r:id="rId13"/>
    <p:sldId id="274"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snapToObjects="1">
      <p:cViewPr varScale="1">
        <p:scale>
          <a:sx n="79" d="100"/>
          <a:sy n="79" d="100"/>
        </p:scale>
        <p:origin x="828"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ocuments\High%20Cloud%20Airlines%20Project.xlsx" TargetMode="Externa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[High Cloud Airlines Project.xlsx]KPI 6!PivotTable13</c:name>
    <c:fmtId val="5"/>
  </c:pivotSource>
  <c:chart>
    <c:title>
      <c:tx>
        <c:rich>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dirty="0"/>
              <a:t>% of Load Factor by Weekday/Weekend</a:t>
            </a:r>
          </a:p>
        </c:rich>
      </c:tx>
      <c:overlay val="0"/>
      <c:spPr>
        <a:noFill/>
        <a:ln>
          <a:noFill/>
        </a:ln>
        <a:effectLst/>
      </c:spPr>
      <c:txPr>
        <a:bodyPr rot="0" spcFirstLastPara="1" vertOverflow="ellipsis" vert="horz" wrap="square" anchor="ctr" anchorCtr="1"/>
        <a:lstStyle/>
        <a:p>
          <a:pPr>
            <a:defRPr sz="2128"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ivotFmts>
      <c:pivotFmt>
        <c:idx val="0"/>
        <c:spPr>
          <a:solidFill>
            <a:schemeClr val="accent1">
              <a:lumMod val="75000"/>
            </a:schemeClr>
          </a:solidFill>
          <a:ln>
            <a:noFill/>
          </a:ln>
          <a:effectLst/>
          <a:scene3d>
            <a:camera prst="orthographicFront">
              <a:rot lat="0" lon="0" rev="0"/>
            </a:camera>
            <a:lightRig rig="threePt" dir="t"/>
          </a:scene3d>
          <a:sp3d prstMaterial="plastic">
            <a:bevelT w="25400" h="25400"/>
          </a:sp3d>
        </c:spPr>
        <c:marker>
          <c:symbol val="none"/>
        </c:marke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rgbClr val="0D0B6B"/>
          </a:solidFill>
          <a:ln>
            <a:noFill/>
          </a:ln>
          <a:effectLst/>
          <a:scene3d>
            <a:camera prst="orthographicFront">
              <a:rot lat="0" lon="0" rev="0"/>
            </a:camera>
            <a:lightRig rig="threePt" dir="t"/>
          </a:scene3d>
          <a:sp3d prstMaterial="plastic">
            <a:bevelT w="25400" h="25400"/>
          </a:sp3d>
        </c:spPr>
      </c:pivotFmt>
      <c:pivotFmt>
        <c:idx val="2"/>
        <c:spPr>
          <a:solidFill>
            <a:schemeClr val="accent5">
              <a:lumMod val="75000"/>
            </a:schemeClr>
          </a:solidFill>
          <a:ln>
            <a:noFill/>
          </a:ln>
          <a:effectLst/>
          <a:scene3d>
            <a:camera prst="orthographicFront">
              <a:rot lat="0" lon="0" rev="0"/>
            </a:camera>
            <a:lightRig rig="threePt" dir="t"/>
          </a:scene3d>
          <a:sp3d prstMaterial="plastic">
            <a:bevelT w="25400" h="25400"/>
          </a:sp3d>
        </c:spPr>
      </c:pivotFmt>
      <c:pivotFmt>
        <c:idx val="3"/>
        <c:spPr>
          <a:solidFill>
            <a:schemeClr val="accent1">
              <a:lumMod val="75000"/>
            </a:schemeClr>
          </a:solidFill>
          <a:ln>
            <a:noFill/>
          </a:ln>
          <a:effectLst/>
          <a:scene3d>
            <a:camera prst="orthographicFront">
              <a:rot lat="0" lon="0" rev="0"/>
            </a:camera>
            <a:lightRig rig="threePt" dir="t"/>
          </a:scene3d>
          <a:sp3d prstMaterial="plastic">
            <a:bevelT w="25400" h="25400"/>
          </a:sp3d>
        </c:spPr>
        <c:marker>
          <c:symbol val="none"/>
        </c:marke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rgbClr val="0D0B6B"/>
          </a:solidFill>
          <a:ln>
            <a:noFill/>
          </a:ln>
          <a:effectLst/>
          <a:scene3d>
            <a:camera prst="orthographicFront">
              <a:rot lat="0" lon="0" rev="0"/>
            </a:camera>
            <a:lightRig rig="threePt" dir="t"/>
          </a:scene3d>
          <a:sp3d prstMaterial="plastic">
            <a:bevelT w="25400" h="25400"/>
          </a:sp3d>
        </c:spPr>
      </c:pivotFmt>
      <c:pivotFmt>
        <c:idx val="5"/>
        <c:spPr>
          <a:solidFill>
            <a:schemeClr val="accent5">
              <a:lumMod val="75000"/>
            </a:schemeClr>
          </a:solidFill>
          <a:ln>
            <a:noFill/>
          </a:ln>
          <a:effectLst/>
          <a:scene3d>
            <a:camera prst="orthographicFront">
              <a:rot lat="0" lon="0" rev="0"/>
            </a:camera>
            <a:lightRig rig="threePt" dir="t"/>
          </a:scene3d>
          <a:sp3d prstMaterial="plastic">
            <a:bevelT w="25400" h="25400"/>
          </a:sp3d>
        </c:spPr>
      </c:pivotFmt>
      <c:pivotFmt>
        <c:idx val="6"/>
        <c:spPr>
          <a:solidFill>
            <a:schemeClr val="accent1">
              <a:lumMod val="75000"/>
            </a:schemeClr>
          </a:solidFill>
          <a:ln>
            <a:noFill/>
          </a:ln>
          <a:effectLst/>
          <a:scene3d>
            <a:camera prst="orthographicFront">
              <a:rot lat="0" lon="0" rev="0"/>
            </a:camera>
            <a:lightRig rig="threePt" dir="t"/>
          </a:scene3d>
          <a:sp3d prstMaterial="plastic">
            <a:bevelT w="25400" h="25400"/>
          </a:sp3d>
        </c:spPr>
        <c:marker>
          <c:symbol val="none"/>
        </c:marker>
        <c:dLbl>
          <c:idx val="0"/>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rgbClr val="0D0B6B"/>
          </a:solidFill>
          <a:ln>
            <a:noFill/>
          </a:ln>
          <a:effectLst/>
          <a:scene3d>
            <a:camera prst="orthographicFront">
              <a:rot lat="0" lon="0" rev="0"/>
            </a:camera>
            <a:lightRig rig="threePt" dir="t"/>
          </a:scene3d>
          <a:sp3d prstMaterial="plastic">
            <a:bevelT w="25400" h="25400"/>
          </a:sp3d>
        </c:spPr>
      </c:pivotFmt>
      <c:pivotFmt>
        <c:idx val="8"/>
        <c:spPr>
          <a:solidFill>
            <a:schemeClr val="accent5">
              <a:lumMod val="75000"/>
            </a:schemeClr>
          </a:solidFill>
          <a:ln>
            <a:noFill/>
          </a:ln>
          <a:effectLst/>
          <a:scene3d>
            <a:camera prst="orthographicFront">
              <a:rot lat="0" lon="0" rev="0"/>
            </a:camera>
            <a:lightRig rig="threePt" dir="t"/>
          </a:scene3d>
          <a:sp3d prstMaterial="plastic">
            <a:bevelT w="25400" h="25400"/>
          </a:sp3d>
        </c:spPr>
      </c:pivotFmt>
    </c:pivotFmts>
    <c:plotArea>
      <c:layout>
        <c:manualLayout>
          <c:layoutTarget val="inner"/>
          <c:xMode val="edge"/>
          <c:yMode val="edge"/>
          <c:x val="0.27042855943957356"/>
          <c:y val="0.16698515702486774"/>
          <c:w val="0.38332518021341688"/>
          <c:h val="0.62577976410472469"/>
        </c:manualLayout>
      </c:layout>
      <c:doughnutChart>
        <c:varyColors val="1"/>
        <c:ser>
          <c:idx val="0"/>
          <c:order val="0"/>
          <c:tx>
            <c:strRef>
              <c:f>'KPI 6'!$B$1</c:f>
              <c:strCache>
                <c:ptCount val="1"/>
                <c:pt idx="0">
                  <c:v>Total</c:v>
                </c:pt>
              </c:strCache>
            </c:strRef>
          </c:tx>
          <c:dPt>
            <c:idx val="0"/>
            <c:bubble3D val="0"/>
            <c:spPr>
              <a:gradFill rotWithShape="1">
                <a:gsLst>
                  <a:gs pos="0">
                    <a:schemeClr val="accent1">
                      <a:tint val="98000"/>
                      <a:hueMod val="94000"/>
                      <a:satMod val="130000"/>
                      <a:lumMod val="138000"/>
                    </a:schemeClr>
                  </a:gs>
                  <a:gs pos="100000">
                    <a:schemeClr val="accent1">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1-3657-4A40-915E-BC7800D71984}"/>
              </c:ext>
            </c:extLst>
          </c:dPt>
          <c:dPt>
            <c:idx val="1"/>
            <c:bubble3D val="0"/>
            <c:spPr>
              <a:gradFill rotWithShape="1">
                <a:gsLst>
                  <a:gs pos="0">
                    <a:schemeClr val="accent2">
                      <a:tint val="98000"/>
                      <a:hueMod val="94000"/>
                      <a:satMod val="130000"/>
                      <a:lumMod val="138000"/>
                    </a:schemeClr>
                  </a:gs>
                  <a:gs pos="100000">
                    <a:schemeClr val="accent2">
                      <a:shade val="94000"/>
                      <a:lumMod val="88000"/>
                    </a:schemeClr>
                  </a:gs>
                </a:gsLst>
                <a:lin ang="5400000" scaled="0"/>
              </a:gradFill>
              <a:ln>
                <a:noFill/>
              </a:ln>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c:spPr>
            <c:extLst>
              <c:ext xmlns:c16="http://schemas.microsoft.com/office/drawing/2014/chart" uri="{C3380CC4-5D6E-409C-BE32-E72D297353CC}">
                <c16:uniqueId val="{00000003-3657-4A40-915E-BC7800D71984}"/>
              </c:ext>
            </c:extLst>
          </c:dPt>
          <c:dLbls>
            <c:spPr>
              <a:solidFill>
                <a:prstClr val="white"/>
              </a:solidFill>
              <a:ln>
                <a:noFill/>
              </a:ln>
              <a:effectLst/>
            </c:spPr>
            <c:txPr>
              <a:bodyPr rot="0" spcFirstLastPara="1" vertOverflow="clip" horzOverflow="clip" vert="horz" wrap="square" lIns="38100" tIns="19050" rIns="38100" bIns="19050" anchor="ctr" anchorCtr="1">
                <a:spAutoFit/>
              </a:bodyPr>
              <a:lstStyle/>
              <a:p>
                <a:pPr>
                  <a:defRPr sz="1197"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'KPI 6'!$A$2:$A$4</c:f>
              <c:strCache>
                <c:ptCount val="2"/>
                <c:pt idx="0">
                  <c:v>Weekday</c:v>
                </c:pt>
                <c:pt idx="1">
                  <c:v>Weekend</c:v>
                </c:pt>
              </c:strCache>
            </c:strRef>
          </c:cat>
          <c:val>
            <c:numRef>
              <c:f>'KPI 6'!$B$2:$B$4</c:f>
              <c:numCache>
                <c:formatCode>0.00%</c:formatCode>
                <c:ptCount val="2"/>
                <c:pt idx="0">
                  <c:v>0.71175228602106044</c:v>
                </c:pt>
                <c:pt idx="1">
                  <c:v>0.28824771397893967</c:v>
                </c:pt>
              </c:numCache>
            </c:numRef>
          </c:val>
          <c:extLst>
            <c:ext xmlns:c16="http://schemas.microsoft.com/office/drawing/2014/chart" uri="{C3380CC4-5D6E-409C-BE32-E72D297353CC}">
              <c16:uniqueId val="{00000004-3657-4A40-915E-BC7800D71984}"/>
            </c:ext>
          </c:extLst>
        </c:ser>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userShapes r:id="rId4"/>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1197"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330" kern="1200"/>
  </cs:chartArea>
  <cs:dataLabel>
    <cs:lnRef idx="0"/>
    <cs:fillRef idx="0"/>
    <cs:effectRef idx="0"/>
    <cs:fontRef idx="minor">
      <a:schemeClr val="lt1">
        <a:lumMod val="85000"/>
      </a:schemeClr>
    </cs:fontRef>
    <cs:defRPr sz="1197" kern="1200"/>
  </cs:dataLabel>
  <cs:dataLabelCallout>
    <cs:lnRef idx="0"/>
    <cs:fillRef idx="0"/>
    <cs:effectRef idx="0"/>
    <cs:fontRef idx="minor">
      <a:schemeClr val="dk1">
        <a:lumMod val="65000"/>
        <a:lumOff val="35000"/>
      </a:schemeClr>
    </cs:fontRef>
    <cs:spPr>
      <a:solidFill>
        <a:schemeClr val="lt1"/>
      </a:solidFill>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1197"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1197"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1197"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2128"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1197"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1197"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0.02084</cdr:x>
      <cdr:y>0.44481</cdr:y>
    </cdr:from>
    <cdr:to>
      <cdr:x>0.25284</cdr:x>
      <cdr:y>0.79154</cdr:y>
    </cdr:to>
    <cdr:sp macro="" textlink="">
      <cdr:nvSpPr>
        <cdr:cNvPr id="2" name="Oval 1">
          <a:extLst xmlns:a="http://schemas.openxmlformats.org/drawingml/2006/main">
            <a:ext uri="{FF2B5EF4-FFF2-40B4-BE49-F238E27FC236}">
              <a16:creationId xmlns:a16="http://schemas.microsoft.com/office/drawing/2014/main" id="{CBBBCE8F-2839-4835-BD20-C4181615460E}"/>
            </a:ext>
          </a:extLst>
        </cdr:cNvPr>
        <cdr:cNvSpPr/>
      </cdr:nvSpPr>
      <cdr:spPr>
        <a:xfrm xmlns:a="http://schemas.openxmlformats.org/drawingml/2006/main">
          <a:off x="181491" y="2373329"/>
          <a:ext cx="2020851" cy="1850010"/>
        </a:xfrm>
        <a:prstGeom xmlns:a="http://schemas.openxmlformats.org/drawingml/2006/main" prst="ellipse">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IN" sz="1600" dirty="0">
              <a:latin typeface="Aparajita" panose="02020603050405020304" pitchFamily="18" charset="0"/>
              <a:cs typeface="Aparajita" panose="02020603050405020304" pitchFamily="18" charset="0"/>
            </a:rPr>
            <a:t>Compared to weekdays, the load factor capacity is lower on weekends</a:t>
          </a:r>
          <a:endParaRPr lang="en-US" sz="1600" dirty="0">
            <a:latin typeface="Aparajita" panose="02020603050405020304" pitchFamily="18" charset="0"/>
            <a:cs typeface="Aparajita" panose="02020603050405020304" pitchFamily="18" charset="0"/>
          </a:endParaRPr>
        </a:p>
      </cdr:txBody>
    </cdr:sp>
  </cdr:relSizeAnchor>
  <cdr:relSizeAnchor xmlns:cdr="http://schemas.openxmlformats.org/drawingml/2006/chartDrawing">
    <cdr:from>
      <cdr:x>0.16126</cdr:x>
      <cdr:y>0.32865</cdr:y>
    </cdr:from>
    <cdr:to>
      <cdr:x>0.28463</cdr:x>
      <cdr:y>0.43642</cdr:y>
    </cdr:to>
    <cdr:cxnSp macro="">
      <cdr:nvCxnSpPr>
        <cdr:cNvPr id="4" name="Connector: Elbow 3">
          <a:extLst xmlns:a="http://schemas.openxmlformats.org/drawingml/2006/main">
            <a:ext uri="{FF2B5EF4-FFF2-40B4-BE49-F238E27FC236}">
              <a16:creationId xmlns:a16="http://schemas.microsoft.com/office/drawing/2014/main" id="{3D4F0197-3BC5-49CC-8F27-6BBE43B5AAA3}"/>
            </a:ext>
          </a:extLst>
        </cdr:cNvPr>
        <cdr:cNvCxnSpPr/>
      </cdr:nvCxnSpPr>
      <cdr:spPr>
        <a:xfrm xmlns:a="http://schemas.openxmlformats.org/drawingml/2006/main" flipV="1">
          <a:off x="1404594" y="1753516"/>
          <a:ext cx="1074656" cy="575036"/>
        </a:xfrm>
        <a:prstGeom xmlns:a="http://schemas.openxmlformats.org/drawingml/2006/main" prst="bentConnector3">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0.71104</cdr:x>
      <cdr:y>0.27918</cdr:y>
    </cdr:from>
    <cdr:to>
      <cdr:x>0.99134</cdr:x>
      <cdr:y>0.97705</cdr:y>
    </cdr:to>
    <cdr:sp macro="" textlink="">
      <cdr:nvSpPr>
        <cdr:cNvPr id="5" name="Oval 4">
          <a:extLst xmlns:a="http://schemas.openxmlformats.org/drawingml/2006/main">
            <a:ext uri="{FF2B5EF4-FFF2-40B4-BE49-F238E27FC236}">
              <a16:creationId xmlns:a16="http://schemas.microsoft.com/office/drawing/2014/main" id="{AF57BE8E-E830-44F1-BDED-C8A48734B9B1}"/>
            </a:ext>
          </a:extLst>
        </cdr:cNvPr>
        <cdr:cNvSpPr/>
      </cdr:nvSpPr>
      <cdr:spPr>
        <a:xfrm xmlns:a="http://schemas.openxmlformats.org/drawingml/2006/main">
          <a:off x="6193411" y="1489566"/>
          <a:ext cx="2441542" cy="3723587"/>
        </a:xfrm>
        <a:prstGeom xmlns:a="http://schemas.openxmlformats.org/drawingml/2006/main" prst="ellipse">
          <a:avLst/>
        </a:prstGeom>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IN" sz="1600" dirty="0">
              <a:latin typeface="Aparajita" panose="02020603050405020304" pitchFamily="18" charset="0"/>
              <a:cs typeface="Aparajita" panose="02020603050405020304" pitchFamily="18" charset="0"/>
            </a:rPr>
            <a:t>This data indicates that a higher number of passengers prefer traveling on weekdays compared to weekends. This insight suggests that increasing the number of flights on weekdays could improve business profitability.</a:t>
          </a:r>
          <a:endParaRPr lang="en-US" sz="1600" dirty="0">
            <a:latin typeface="Aparajita" panose="02020603050405020304" pitchFamily="18" charset="0"/>
            <a:cs typeface="Aparajita" panose="02020603050405020304" pitchFamily="18" charset="0"/>
          </a:endParaRPr>
        </a:p>
      </cdr:txBody>
    </cdr:sp>
  </cdr:relSizeAnchor>
  <cdr:relSizeAnchor xmlns:cdr="http://schemas.openxmlformats.org/drawingml/2006/chartDrawing">
    <cdr:from>
      <cdr:x>0.61472</cdr:x>
      <cdr:y>0.29331</cdr:y>
    </cdr:from>
    <cdr:to>
      <cdr:x>0.83874</cdr:x>
      <cdr:y>0.32158</cdr:y>
    </cdr:to>
    <cdr:cxnSp macro="">
      <cdr:nvCxnSpPr>
        <cdr:cNvPr id="9" name="Connector: Elbow 8">
          <a:extLst xmlns:a="http://schemas.openxmlformats.org/drawingml/2006/main">
            <a:ext uri="{FF2B5EF4-FFF2-40B4-BE49-F238E27FC236}">
              <a16:creationId xmlns:a16="http://schemas.microsoft.com/office/drawing/2014/main" id="{637B03BF-6A3D-46DA-A4EE-786301191A36}"/>
            </a:ext>
          </a:extLst>
        </cdr:cNvPr>
        <cdr:cNvCxnSpPr/>
      </cdr:nvCxnSpPr>
      <cdr:spPr>
        <a:xfrm xmlns:a="http://schemas.openxmlformats.org/drawingml/2006/main" rot="10800000" flipV="1">
          <a:off x="5354426" y="1564978"/>
          <a:ext cx="1951349" cy="150830"/>
        </a:xfrm>
        <a:prstGeom xmlns:a="http://schemas.openxmlformats.org/drawingml/2006/main" prst="bentConnector3">
          <a:avLst>
            <a:gd name="adj1" fmla="val 50483"/>
          </a:avLst>
        </a:prstGeom>
        <a:ln xmlns:a="http://schemas.openxmlformats.org/drawingml/2006/main">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70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summarizes the full story upfront for leadership.</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4334933" y="1169931"/>
            <a:ext cx="4814835" cy="4993802"/>
            <a:chOff x="4334933" y="1169931"/>
            <a:chExt cx="4814835" cy="4993802"/>
          </a:xfrm>
        </p:grpSpPr>
        <p:cxnSp>
          <p:nvCxnSpPr>
            <p:cNvPr id="17" name="Straight Connector 16"/>
            <p:cNvCxnSpPr/>
            <p:nvPr/>
          </p:nvCxnSpPr>
          <p:spPr>
            <a:xfrm flipH="1">
              <a:off x="6009259" y="1169931"/>
              <a:ext cx="3134741" cy="313474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4334933" y="1348898"/>
              <a:ext cx="4814835" cy="481483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225595" y="1469269"/>
              <a:ext cx="3912054" cy="3912054"/>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flipH="1">
              <a:off x="5304588" y="1307856"/>
              <a:ext cx="3839412" cy="383941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707078" y="1770196"/>
              <a:ext cx="3430571" cy="3430570"/>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1"/>
          <p:cNvSpPr>
            <a:spLocks noGrp="1"/>
          </p:cNvSpPr>
          <p:nvPr>
            <p:ph type="ctrTitle"/>
          </p:nvPr>
        </p:nvSpPr>
        <p:spPr>
          <a:xfrm>
            <a:off x="533400" y="533400"/>
            <a:ext cx="6154713" cy="3124201"/>
          </a:xfrm>
        </p:spPr>
        <p:txBody>
          <a:bodyPr anchor="b">
            <a:normAutofit/>
          </a:bodyPr>
          <a:lstStyle>
            <a:lvl1pPr algn="l">
              <a:defRPr sz="4400">
                <a:effectLst/>
              </a:defRPr>
            </a:lvl1pPr>
          </a:lstStyle>
          <a:p>
            <a:r>
              <a:rPr lang="en-US"/>
              <a:t>Click to edit Master title style</a:t>
            </a:r>
            <a:endParaRPr lang="en-US" dirty="0"/>
          </a:p>
        </p:txBody>
      </p:sp>
      <p:sp>
        <p:nvSpPr>
          <p:cNvPr id="3" name="Subtitle 2"/>
          <p:cNvSpPr>
            <a:spLocks noGrp="1"/>
          </p:cNvSpPr>
          <p:nvPr>
            <p:ph type="subTitle" idx="1"/>
          </p:nvPr>
        </p:nvSpPr>
        <p:spPr>
          <a:xfrm>
            <a:off x="533400" y="3843868"/>
            <a:ext cx="4954250" cy="1913466"/>
          </a:xfrm>
        </p:spPr>
        <p:txBody>
          <a:bodyPr anchor="t">
            <a:normAutofit/>
          </a:bodyPr>
          <a:lstStyle>
            <a:lvl1pPr marL="0" indent="0" algn="l">
              <a:buNone/>
              <a:defRPr sz="20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5721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3" name="Content Placeholder 2"/>
          <p:cNvSpPr>
            <a:spLocks noGrp="1"/>
          </p:cNvSpPr>
          <p:nvPr>
            <p:ph idx="1"/>
          </p:nvPr>
        </p:nvSpPr>
        <p:spPr>
          <a:xfrm>
            <a:off x="533400" y="533400"/>
            <a:ext cx="6554867" cy="376767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66735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3400" y="1981199"/>
            <a:ext cx="6402468" cy="2319867"/>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487333"/>
            <a:ext cx="6402467" cy="15324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1622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11" name="Content Placeholder 3"/>
          <p:cNvSpPr>
            <a:spLocks noGrp="1"/>
          </p:cNvSpPr>
          <p:nvPr>
            <p:ph sz="half" idx="13"/>
          </p:nvPr>
        </p:nvSpPr>
        <p:spPr>
          <a:xfrm>
            <a:off x="533400" y="533400"/>
            <a:ext cx="3949967" cy="3767667"/>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5"/>
          <p:cNvSpPr>
            <a:spLocks noGrp="1"/>
          </p:cNvSpPr>
          <p:nvPr>
            <p:ph sz="quarter" idx="4"/>
          </p:nvPr>
        </p:nvSpPr>
        <p:spPr>
          <a:xfrm>
            <a:off x="4662362" y="533400"/>
            <a:ext cx="3948238" cy="37592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3203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762001" y="533400"/>
            <a:ext cx="3716866" cy="609600"/>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3399" y="1143000"/>
            <a:ext cx="3945467" cy="3158067"/>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5016" y="566738"/>
            <a:ext cx="3764051" cy="576262"/>
          </a:xfrm>
        </p:spPr>
        <p:txBody>
          <a:bodyPr anchor="b">
            <a:noAutofit/>
          </a:bodyPr>
          <a:lstStyle>
            <a:lvl1pPr marL="0" indent="0">
              <a:buNone/>
              <a:defRPr sz="2400" b="0" cap="all">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2362" y="1143000"/>
            <a:ext cx="3956705" cy="314960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699038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defRPr sz="32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803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98543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18667" y="533400"/>
            <a:ext cx="3200400" cy="1524000"/>
          </a:xfrm>
        </p:spPr>
        <p:txBody>
          <a:bodyPr anchor="b">
            <a:normAutofit/>
          </a:bodyPr>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533399" y="533400"/>
            <a:ext cx="4438755" cy="54864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418667" y="2209802"/>
            <a:ext cx="32004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20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495800" y="1447800"/>
            <a:ext cx="3563258" cy="1143000"/>
          </a:xfrm>
        </p:spPr>
        <p:txBody>
          <a:bodyPr anchor="b">
            <a:normAutofit/>
          </a:bodyPr>
          <a:lstStyle>
            <a:lvl1pPr algn="l">
              <a:defRPr sz="2400" b="0"/>
            </a:lvl1pPr>
          </a:lstStyle>
          <a:p>
            <a:r>
              <a:rPr lang="en-US"/>
              <a:t>Click to edit Master title style</a:t>
            </a:r>
            <a:endParaRPr lang="en-US" dirty="0"/>
          </a:p>
        </p:txBody>
      </p:sp>
      <p:sp>
        <p:nvSpPr>
          <p:cNvPr id="17" name="Picture Placeholder 2"/>
          <p:cNvSpPr>
            <a:spLocks noGrp="1" noChangeAspect="1"/>
          </p:cNvSpPr>
          <p:nvPr>
            <p:ph type="pic" idx="13"/>
          </p:nvPr>
        </p:nvSpPr>
        <p:spPr>
          <a:xfrm>
            <a:off x="762000" y="914400"/>
            <a:ext cx="3280974" cy="48006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496027" y="2743200"/>
            <a:ext cx="3564223" cy="2082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5/14/2026</a:t>
            </a:fld>
            <a:endParaRPr lang="en-US"/>
          </a:p>
        </p:txBody>
      </p:sp>
      <p:sp>
        <p:nvSpPr>
          <p:cNvPr id="6" name="Footer Placeholder 5"/>
          <p:cNvSpPr>
            <a:spLocks noGrp="1"/>
          </p:cNvSpPr>
          <p:nvPr>
            <p:ph type="ftr" sz="quarter" idx="11"/>
          </p:nvPr>
        </p:nvSpPr>
        <p:spPr>
          <a:xfrm>
            <a:off x="533400" y="6172200"/>
            <a:ext cx="5811724"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0204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lstStyle/>
          <a:p>
            <a:r>
              <a:rPr lang="en-US"/>
              <a:t>Click to edit Master title style</a:t>
            </a:r>
            <a:endParaRPr lang="en-US" dirty="0"/>
          </a:p>
        </p:txBody>
      </p:sp>
      <p:sp>
        <p:nvSpPr>
          <p:cNvPr id="6" name="Picture Placeholder 2"/>
          <p:cNvSpPr>
            <a:spLocks noGrp="1" noChangeAspect="1"/>
          </p:cNvSpPr>
          <p:nvPr>
            <p:ph type="pic" idx="13"/>
          </p:nvPr>
        </p:nvSpPr>
        <p:spPr>
          <a:xfrm>
            <a:off x="533400" y="533400"/>
            <a:ext cx="8077200"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9" name="Text Placeholder 9"/>
          <p:cNvSpPr>
            <a:spLocks noGrp="1"/>
          </p:cNvSpPr>
          <p:nvPr>
            <p:ph type="body" sz="quarter" idx="14"/>
          </p:nvPr>
        </p:nvSpPr>
        <p:spPr>
          <a:xfrm>
            <a:off x="762002" y="3843867"/>
            <a:ext cx="7281332"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5/14/2026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84265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077200" cy="2895600"/>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4114800"/>
            <a:ext cx="6383552" cy="1905000"/>
          </a:xfrm>
        </p:spPr>
        <p:txBody>
          <a:bodyPr anchor="ctr">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3741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283" y="533400"/>
            <a:ext cx="6859787"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66800" y="3429000"/>
            <a:ext cx="6402467" cy="4826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533400" y="4301070"/>
            <a:ext cx="6382361" cy="171873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0593444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33400" y="3429000"/>
            <a:ext cx="6382361" cy="16974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533400" y="5132980"/>
            <a:ext cx="6383552" cy="886819"/>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120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284" y="533400"/>
            <a:ext cx="6859786" cy="2895600"/>
          </a:xfrm>
        </p:spPr>
        <p:txBody>
          <a:bodyPr anchor="ctr">
            <a:normAutofit/>
          </a:bodyPr>
          <a:lstStyle>
            <a:lvl1pPr algn="l">
              <a:defRPr sz="28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33400" y="3886200"/>
            <a:ext cx="6382361" cy="1049866"/>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953000"/>
            <a:ext cx="6382360" cy="10668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4" name="TextBox 13"/>
          <p:cNvSpPr txBox="1"/>
          <p:nvPr/>
        </p:nvSpPr>
        <p:spPr>
          <a:xfrm>
            <a:off x="228600" y="710624"/>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7696200" y="2768601"/>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088852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7525658" cy="2895600"/>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33400" y="3928534"/>
            <a:ext cx="6382361" cy="838200"/>
          </a:xfrm>
        </p:spPr>
        <p:txBody>
          <a:bodyPr vert="horz" lIns="91440" tIns="45720" rIns="91440" bIns="45720" rtlCol="0" anchor="b">
            <a:normAutofit/>
          </a:bodyPr>
          <a:lstStyle>
            <a:lvl1pPr>
              <a:buNone/>
              <a:defRPr lang="en-US" sz="20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33400" y="4766735"/>
            <a:ext cx="6382360" cy="1253065"/>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68752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533400" y="4495800"/>
            <a:ext cx="6554867" cy="1524000"/>
          </a:xfrm>
        </p:spPr>
        <p:txBody>
          <a:bodyPr>
            <a:normAutofit/>
          </a:bodyPr>
          <a:lstStyle>
            <a:lvl1pPr algn="l">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1"/>
            <a:ext cx="6554867" cy="376767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4831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66406" y="533400"/>
            <a:ext cx="2044194" cy="4419600"/>
          </a:xfrm>
        </p:spPr>
        <p:txBody>
          <a:bodyPr vert="eaVert">
            <a:normAutofit/>
          </a:bodyPr>
          <a:lstStyle>
            <a:lvl1pPr>
              <a:defRPr sz="280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33400" y="533400"/>
            <a:ext cx="5850012" cy="5486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610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670675" y="3894667"/>
            <a:ext cx="2470456" cy="2658533"/>
            <a:chOff x="6687077" y="3259666"/>
            <a:chExt cx="2981857" cy="3208867"/>
          </a:xfrm>
        </p:grpSpPr>
        <p:cxnSp>
          <p:nvCxnSpPr>
            <p:cNvPr id="8" name="Straight Connector 7"/>
            <p:cNvCxnSpPr/>
            <p:nvPr/>
          </p:nvCxnSpPr>
          <p:spPr>
            <a:xfrm flipH="1">
              <a:off x="8756120" y="3259666"/>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6687077" y="3486677"/>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7772400" y="3581400"/>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7923214" y="3433394"/>
              <a:ext cx="1739738" cy="173974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8398935" y="3985317"/>
              <a:ext cx="1264017" cy="1264016"/>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33400" y="4495800"/>
            <a:ext cx="6554867" cy="15240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533401"/>
            <a:ext cx="6554867" cy="376767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30245" y="6172203"/>
            <a:ext cx="1200463"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BCAD085-E8A6-8845-BD4E-CB4CCA059FC4}" type="datetimeFigureOut">
              <a:rPr lang="en-US" smtClean="0"/>
              <a:t>5/14/2026</a:t>
            </a:fld>
            <a:endParaRPr lang="en-US"/>
          </a:p>
        </p:txBody>
      </p:sp>
      <p:sp>
        <p:nvSpPr>
          <p:cNvPr id="5" name="Footer Placeholder 4"/>
          <p:cNvSpPr>
            <a:spLocks noGrp="1"/>
          </p:cNvSpPr>
          <p:nvPr>
            <p:ph type="ftr" sz="quarter" idx="3"/>
          </p:nvPr>
        </p:nvSpPr>
        <p:spPr>
          <a:xfrm>
            <a:off x="533400" y="6172200"/>
            <a:ext cx="5811724"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7774426" y="5578478"/>
            <a:ext cx="856907" cy="669925"/>
          </a:xfrm>
          <a:prstGeom prst="rect">
            <a:avLst/>
          </a:prstGeom>
        </p:spPr>
        <p:txBody>
          <a:bodyPr vert="horz" lIns="91440" tIns="45720" rIns="91440" bIns="45720" rtlCol="0" anchor="b"/>
          <a:lstStyle>
            <a:lvl1pPr algn="r">
              <a:defRPr sz="2800" b="0" i="0">
                <a:solidFill>
                  <a:schemeClr val="bg2">
                    <a:lumMod val="50000"/>
                  </a:schemeClr>
                </a:solidFill>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82069913"/>
      </p:ext>
    </p:extLst>
  </p:cSld>
  <p:clrMap bg1="dk1" tx1="lt1" bg2="dk2" tx2="lt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xhere.com/en/photo/963511"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creativecommons.org/licenses/by/3.0/" TargetMode="External"/><Relationship Id="rId5" Type="http://schemas.openxmlformats.org/officeDocument/2006/relationships/hyperlink" Target="https://freebie.photography/nature/slides/fluffy_clouds.htm"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hippopx.com/en/plane-aircraft-take-off-sky-aeroplane-jet-travel-96448"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pxhere.com/en/photo/751314"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Project_file.sq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pxhere.com/en/photo/517021" TargetMode="External"/><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xhere.com/en/photo/1234334" TargetMode="External"/><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pxhere.com/en/photo/981603" TargetMode="External"/><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medium.com/devopslinks/two-years-working-at-latam-airlines-my-story-ec90bee21f1b" TargetMode="External"/><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feelingsnest.com/thank-you-messages/"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03140-A8E1-40FF-86F6-21266DFA963B}"/>
              </a:ext>
            </a:extLst>
          </p:cNvPr>
          <p:cNvSpPr>
            <a:spLocks noGrp="1"/>
          </p:cNvSpPr>
          <p:nvPr>
            <p:ph type="title"/>
          </p:nvPr>
        </p:nvSpPr>
        <p:spPr>
          <a:xfrm>
            <a:off x="391356" y="533400"/>
            <a:ext cx="7838243" cy="2369598"/>
          </a:xfrm>
        </p:spPr>
        <p:txBody>
          <a:bodyPr>
            <a:normAutofit/>
          </a:bodyPr>
          <a:lstStyle/>
          <a:p>
            <a:r>
              <a:rPr lang="en-US" sz="2700" dirty="0">
                <a:solidFill>
                  <a:schemeClr val="bg1"/>
                </a:solidFill>
                <a:latin typeface="Arial Black" panose="020B0A04020102020204" pitchFamily="34" charset="0"/>
              </a:rPr>
              <a:t>Presentation on:</a:t>
            </a:r>
            <a:r>
              <a:rPr lang="en-US" sz="4000" dirty="0">
                <a:solidFill>
                  <a:schemeClr val="bg1"/>
                </a:solidFill>
                <a:latin typeface="Algerian" panose="04020705040A02060702" pitchFamily="82" charset="0"/>
              </a:rPr>
              <a:t/>
            </a:r>
            <a:br>
              <a:rPr lang="en-US" sz="4000" dirty="0">
                <a:solidFill>
                  <a:schemeClr val="bg1"/>
                </a:solidFill>
                <a:latin typeface="Algerian" panose="04020705040A02060702" pitchFamily="82" charset="0"/>
              </a:rPr>
            </a:br>
            <a:r>
              <a:rPr lang="en-US" sz="4000" dirty="0">
                <a:solidFill>
                  <a:schemeClr val="bg1"/>
                </a:solidFill>
                <a:latin typeface="Algerian" panose="04020705040A02060702" pitchFamily="82" charset="0"/>
              </a:rPr>
              <a:t>HIGHCLOUDS AIRLINES DATA ANALYSIS PROJECT</a:t>
            </a:r>
            <a:endParaRPr lang="en-IN" sz="4000" dirty="0">
              <a:solidFill>
                <a:schemeClr val="bg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8BCC0E92-9ABE-4A93-A8E6-6533254B24E9}"/>
              </a:ext>
            </a:extLst>
          </p:cNvPr>
          <p:cNvSpPr>
            <a:spLocks noGrp="1"/>
          </p:cNvSpPr>
          <p:nvPr>
            <p:ph idx="1"/>
          </p:nvPr>
        </p:nvSpPr>
        <p:spPr>
          <a:xfrm>
            <a:off x="391357" y="2732103"/>
            <a:ext cx="6554867" cy="772357"/>
          </a:xfrm>
        </p:spPr>
        <p:txBody>
          <a:bodyPr>
            <a:normAutofit/>
          </a:bodyPr>
          <a:lstStyle/>
          <a:p>
            <a:pPr marL="0" indent="0">
              <a:buNone/>
            </a:pPr>
            <a:r>
              <a:rPr lang="en-US" sz="2800" dirty="0">
                <a:solidFill>
                  <a:schemeClr val="bg1"/>
                </a:solidFill>
                <a:latin typeface="Arial Black" panose="020B0A04020102020204" pitchFamily="34" charset="0"/>
              </a:rPr>
              <a:t>GROUP 5</a:t>
            </a:r>
            <a:endParaRPr lang="en-IN" sz="2800" dirty="0">
              <a:solidFill>
                <a:schemeClr val="bg1"/>
              </a:solidFill>
              <a:latin typeface="Arial Black" panose="020B0A04020102020204" pitchFamily="34" charset="0"/>
            </a:endParaRPr>
          </a:p>
        </p:txBody>
      </p:sp>
      <p:pic>
        <p:nvPicPr>
          <p:cNvPr id="5" name="Picture 4">
            <a:extLst>
              <a:ext uri="{FF2B5EF4-FFF2-40B4-BE49-F238E27FC236}">
                <a16:creationId xmlns:a16="http://schemas.microsoft.com/office/drawing/2014/main" id="{12E0D2F8-CFB6-4661-9C4C-C3804971D36B}"/>
              </a:ext>
            </a:extLst>
          </p:cNvPr>
          <p:cNvPicPr>
            <a:picLocks noChangeAspect="1"/>
          </p:cNvPicPr>
          <p:nvPr/>
        </p:nvPicPr>
        <p:blipFill>
          <a:blip r:embed="rId2">
            <a:alphaModFix amt="50000"/>
            <a:extLst>
              <a:ext uri="{837473B0-CC2E-450A-ABE3-18F120FF3D39}">
                <a1611:picAttrSrcUrl xmlns:a1611="http://schemas.microsoft.com/office/drawing/2016/11/main" xmlns="" r:id="rId3"/>
              </a:ext>
            </a:extLst>
          </a:blip>
          <a:stretch>
            <a:fillRect/>
          </a:stretch>
        </p:blipFill>
        <p:spPr>
          <a:xfrm>
            <a:off x="-1" y="3428999"/>
            <a:ext cx="9144000" cy="3429001"/>
          </a:xfrm>
          <a:prstGeom prst="rect">
            <a:avLst/>
          </a:prstGeom>
        </p:spPr>
      </p:pic>
      <p:pic>
        <p:nvPicPr>
          <p:cNvPr id="7" name="Picture 6">
            <a:extLst>
              <a:ext uri="{FF2B5EF4-FFF2-40B4-BE49-F238E27FC236}">
                <a16:creationId xmlns:a16="http://schemas.microsoft.com/office/drawing/2014/main" id="{A308E943-1F36-4D90-B395-D236D60E6F49}"/>
              </a:ext>
            </a:extLst>
          </p:cNvPr>
          <p:cNvPicPr>
            <a:picLocks noChangeAspect="1"/>
          </p:cNvPicPr>
          <p:nvPr/>
        </p:nvPicPr>
        <p:blipFill>
          <a:blip r:embed="rId4">
            <a:alphaModFix amt="35000"/>
            <a:extLst>
              <a:ext uri="{837473B0-CC2E-450A-ABE3-18F120FF3D39}">
                <a1611:picAttrSrcUrl xmlns:a1611="http://schemas.microsoft.com/office/drawing/2016/11/main" xmlns="" r:id="rId5"/>
              </a:ext>
            </a:extLst>
          </a:blip>
          <a:stretch>
            <a:fillRect/>
          </a:stretch>
        </p:blipFill>
        <p:spPr>
          <a:xfrm>
            <a:off x="-27707" y="0"/>
            <a:ext cx="9144000" cy="3430796"/>
          </a:xfrm>
          <a:prstGeom prst="rect">
            <a:avLst/>
          </a:prstGeom>
        </p:spPr>
      </p:pic>
      <p:sp>
        <p:nvSpPr>
          <p:cNvPr id="8" name="TextBox 7">
            <a:extLst>
              <a:ext uri="{FF2B5EF4-FFF2-40B4-BE49-F238E27FC236}">
                <a16:creationId xmlns:a16="http://schemas.microsoft.com/office/drawing/2014/main" id="{F05D5D14-87ED-4314-BB2F-4EDAB557CBB0}"/>
              </a:ext>
            </a:extLst>
          </p:cNvPr>
          <p:cNvSpPr txBox="1"/>
          <p:nvPr/>
        </p:nvSpPr>
        <p:spPr>
          <a:xfrm>
            <a:off x="5566299" y="2501271"/>
            <a:ext cx="3355760" cy="230832"/>
          </a:xfrm>
          <a:prstGeom prst="rect">
            <a:avLst/>
          </a:prstGeom>
          <a:noFill/>
        </p:spPr>
        <p:txBody>
          <a:bodyPr wrap="square" rtlCol="0">
            <a:spAutoFit/>
          </a:bodyPr>
          <a:lstStyle/>
          <a:p>
            <a:r>
              <a:rPr lang="en-IN" sz="900">
                <a:hlinkClick r:id="rId5" tooltip="https://freebie.photography/nature/slides/fluffy_clouds.htm"/>
              </a:rPr>
              <a:t>This Photo</a:t>
            </a:r>
            <a:r>
              <a:rPr lang="en-IN" sz="900"/>
              <a:t> by Unknown Author is licensed under </a:t>
            </a:r>
            <a:r>
              <a:rPr lang="en-IN" sz="900">
                <a:hlinkClick r:id="rId6" tooltip="https://creativecommons.org/licenses/by/3.0/"/>
              </a:rPr>
              <a:t>CC BY</a:t>
            </a:r>
            <a:endParaRPr lang="en-IN" sz="900"/>
          </a:p>
        </p:txBody>
      </p:sp>
    </p:spTree>
    <p:extLst>
      <p:ext uri="{BB962C8B-B14F-4D97-AF65-F5344CB8AC3E}">
        <p14:creationId xmlns:p14="http://schemas.microsoft.com/office/powerpoint/2010/main" val="2952993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0335"/>
          </a:xfrm>
        </p:spPr>
        <p:txBody>
          <a:bodyPr>
            <a:normAutofit/>
          </a:bodyPr>
          <a:lstStyle/>
          <a:p>
            <a:r>
              <a:rPr lang="en-US" dirty="0">
                <a:solidFill>
                  <a:schemeClr val="bg1"/>
                </a:solidFill>
                <a:latin typeface="Algerian" panose="04020705040A02060702" pitchFamily="82" charset="0"/>
              </a:rPr>
              <a:t>Overview</a:t>
            </a:r>
            <a:endParaRPr dirty="0">
              <a:solidFill>
                <a:schemeClr val="bg1"/>
              </a:solidFill>
              <a:latin typeface="Algerian" panose="04020705040A02060702" pitchFamily="82" charset="0"/>
            </a:endParaRPr>
          </a:p>
        </p:txBody>
      </p:sp>
      <p:sp>
        <p:nvSpPr>
          <p:cNvPr id="3" name="Content Placeholder 2"/>
          <p:cNvSpPr>
            <a:spLocks noGrp="1"/>
          </p:cNvSpPr>
          <p:nvPr>
            <p:ph idx="1"/>
          </p:nvPr>
        </p:nvSpPr>
        <p:spPr>
          <a:xfrm>
            <a:off x="457200" y="1197204"/>
            <a:ext cx="8229600" cy="5386158"/>
          </a:xfrm>
        </p:spPr>
        <p:txBody>
          <a:bodyPr>
            <a:noAutofit/>
          </a:bodyPr>
          <a:lstStyle/>
          <a:p>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The airline industry is a complicated sector that operates globally, encompassing major, regional, and low-cost carriers. </a:t>
            </a:r>
          </a:p>
          <a:p>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These airlines manage various fleets and operate within a complex ecosystem shaped by economic conditions, fuel prices, and regulatory standards. Revenue streams include passenger ticket sales, cargo transport, and ancillary services.</a:t>
            </a:r>
          </a:p>
          <a:p>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 It is the dynamic industry influenced by various factors requiring adaptability, strategic planning and a commitment to safety and customer satisfaction for a long-term success Purpose of </a:t>
            </a:r>
            <a:r>
              <a:rPr lang="en-IN" sz="2000" b="0" i="0" dirty="0" err="1">
                <a:solidFill>
                  <a:schemeClr val="bg1">
                    <a:lumMod val="95000"/>
                    <a:lumOff val="5000"/>
                  </a:schemeClr>
                </a:solidFill>
                <a:effectLst/>
                <a:latin typeface="Aparajita" panose="02020603050405020304" pitchFamily="18" charset="0"/>
                <a:cs typeface="Aparajita" panose="02020603050405020304" pitchFamily="18" charset="0"/>
              </a:rPr>
              <a:t>analyzing</a:t>
            </a:r>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 the data of airline industry serves as a fundamental tool for improving efficiency, making informed decisions, and staying competitive in a dynamic and challenging business environment.</a:t>
            </a:r>
          </a:p>
          <a:p>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 It helps airlines navigate operational complexities, mitigate risks, enhance overall performance. </a:t>
            </a:r>
          </a:p>
          <a:p>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Data </a:t>
            </a:r>
            <a:r>
              <a:rPr lang="en-IN" sz="2000" b="0" i="0" dirty="0" err="1">
                <a:solidFill>
                  <a:schemeClr val="bg1">
                    <a:lumMod val="95000"/>
                    <a:lumOff val="5000"/>
                  </a:schemeClr>
                </a:solidFill>
                <a:effectLst/>
                <a:latin typeface="Aparajita" panose="02020603050405020304" pitchFamily="18" charset="0"/>
                <a:cs typeface="Aparajita" panose="02020603050405020304" pitchFamily="18" charset="0"/>
              </a:rPr>
              <a:t>Analyzed</a:t>
            </a:r>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 in the form of relational, graphs and document data models using tools like Excel, Tableau, </a:t>
            </a:r>
            <a:r>
              <a:rPr lang="en-IN" sz="2000" b="0" i="0" dirty="0" err="1">
                <a:solidFill>
                  <a:schemeClr val="bg1">
                    <a:lumMod val="95000"/>
                    <a:lumOff val="5000"/>
                  </a:schemeClr>
                </a:solidFill>
                <a:effectLst/>
                <a:latin typeface="Aparajita" panose="02020603050405020304" pitchFamily="18" charset="0"/>
                <a:cs typeface="Aparajita" panose="02020603050405020304" pitchFamily="18" charset="0"/>
              </a:rPr>
              <a:t>PowerBI</a:t>
            </a:r>
            <a:r>
              <a:rPr lang="en-IN" sz="2000" b="0" i="0" dirty="0">
                <a:solidFill>
                  <a:schemeClr val="bg1">
                    <a:lumMod val="95000"/>
                    <a:lumOff val="5000"/>
                  </a:schemeClr>
                </a:solidFill>
                <a:effectLst/>
                <a:latin typeface="Aparajita" panose="02020603050405020304" pitchFamily="18" charset="0"/>
                <a:cs typeface="Aparajita" panose="02020603050405020304" pitchFamily="18" charset="0"/>
              </a:rPr>
              <a:t> and SQL Let examine the dashboards where we have used Load factor as the key for performance of the airlines</a:t>
            </a:r>
            <a:endParaRPr sz="2000" dirty="0">
              <a:solidFill>
                <a:schemeClr val="bg1">
                  <a:lumMod val="95000"/>
                  <a:lumOff val="5000"/>
                </a:schemeClr>
              </a:solidFill>
              <a:latin typeface="Aparajita" panose="02020603050405020304" pitchFamily="18" charset="0"/>
              <a:cs typeface="Aparajita" panose="02020603050405020304" pitchFamily="18" charset="0"/>
            </a:endParaRPr>
          </a:p>
        </p:txBody>
      </p:sp>
      <p:pic>
        <p:nvPicPr>
          <p:cNvPr id="8" name="Picture 7">
            <a:extLst>
              <a:ext uri="{FF2B5EF4-FFF2-40B4-BE49-F238E27FC236}">
                <a16:creationId xmlns:a16="http://schemas.microsoft.com/office/drawing/2014/main" id="{08027CA7-52FA-4457-9F65-ACFFA0103757}"/>
              </a:ext>
            </a:extLst>
          </p:cNvPr>
          <p:cNvPicPr>
            <a:picLocks noChangeAspect="1"/>
          </p:cNvPicPr>
          <p:nvPr/>
        </p:nvPicPr>
        <p:blipFill>
          <a:blip r:embed="rId3">
            <a:alphaModFix amt="20000"/>
            <a:extLst>
              <a:ext uri="{837473B0-CC2E-450A-ABE3-18F120FF3D39}">
                <a1611:picAttrSrcUrl xmlns:a1611="http://schemas.microsoft.com/office/drawing/2016/11/main" xmlns="" r:id="rId4"/>
              </a:ext>
            </a:extLst>
          </a:blip>
          <a:stretch>
            <a:fillRect/>
          </a:stretch>
        </p:blipFill>
        <p:spPr>
          <a:xfrm>
            <a:off x="9236" y="18472"/>
            <a:ext cx="9144001"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8963-0348-4B6E-91C8-8FB0F45DC49F}"/>
              </a:ext>
            </a:extLst>
          </p:cNvPr>
          <p:cNvSpPr>
            <a:spLocks noGrp="1"/>
          </p:cNvSpPr>
          <p:nvPr>
            <p:ph type="title"/>
          </p:nvPr>
        </p:nvSpPr>
        <p:spPr>
          <a:xfrm>
            <a:off x="533399" y="131975"/>
            <a:ext cx="7884737" cy="650450"/>
          </a:xfrm>
        </p:spPr>
        <p:txBody>
          <a:bodyPr/>
          <a:lstStyle/>
          <a:p>
            <a:r>
              <a:rPr lang="en-US" dirty="0">
                <a:solidFill>
                  <a:schemeClr val="bg1"/>
                </a:solidFill>
                <a:latin typeface="Algerian" panose="04020705040A02060702" pitchFamily="82" charset="0"/>
              </a:rPr>
              <a:t>OBJECTIVE</a:t>
            </a:r>
            <a:endParaRPr lang="en-IN" dirty="0">
              <a:solidFill>
                <a:schemeClr val="bg1"/>
              </a:solidFill>
              <a:latin typeface="Algerian" panose="04020705040A02060702" pitchFamily="82" charset="0"/>
            </a:endParaRPr>
          </a:p>
        </p:txBody>
      </p:sp>
      <p:sp>
        <p:nvSpPr>
          <p:cNvPr id="4" name="Rectangle: Rounded Corners 3">
            <a:extLst>
              <a:ext uri="{FF2B5EF4-FFF2-40B4-BE49-F238E27FC236}">
                <a16:creationId xmlns:a16="http://schemas.microsoft.com/office/drawing/2014/main" id="{326ADCEE-62BE-49A4-AE11-54905E5ADAE8}"/>
              </a:ext>
            </a:extLst>
          </p:cNvPr>
          <p:cNvSpPr/>
          <p:nvPr/>
        </p:nvSpPr>
        <p:spPr>
          <a:xfrm>
            <a:off x="367268" y="1689755"/>
            <a:ext cx="2573518" cy="347849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latin typeface="Aparajita" panose="02020603050405020304" pitchFamily="18" charset="0"/>
                <a:cs typeface="Aparajita" panose="02020603050405020304" pitchFamily="18" charset="0"/>
              </a:rPr>
              <a:t>FINANCIAL PERFORMANCE</a:t>
            </a:r>
          </a:p>
          <a:p>
            <a:r>
              <a:rPr lang="en-IN" dirty="0">
                <a:latin typeface="Aparajita" panose="02020603050405020304" pitchFamily="18" charset="0"/>
                <a:cs typeface="Aparajita" panose="02020603050405020304" pitchFamily="18" charset="0"/>
              </a:rPr>
              <a:t>The objective of conducting the High Cloud Airline analysis project is to understand the data and extract insights, communicating them to clients about the airline's performance, efficiency, and condition within the aviation industry.</a:t>
            </a:r>
          </a:p>
        </p:txBody>
      </p:sp>
      <p:sp>
        <p:nvSpPr>
          <p:cNvPr id="5" name="Content Placeholder 4">
            <a:extLst>
              <a:ext uri="{FF2B5EF4-FFF2-40B4-BE49-F238E27FC236}">
                <a16:creationId xmlns:a16="http://schemas.microsoft.com/office/drawing/2014/main" id="{10ED65F8-C1B8-4024-9804-F24599D57E58}"/>
              </a:ext>
            </a:extLst>
          </p:cNvPr>
          <p:cNvSpPr>
            <a:spLocks noGrp="1"/>
          </p:cNvSpPr>
          <p:nvPr>
            <p:ph idx="1"/>
          </p:nvPr>
        </p:nvSpPr>
        <p:spPr>
          <a:xfrm>
            <a:off x="6010748" y="1553720"/>
            <a:ext cx="2440590" cy="3613871"/>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noAutofit/>
          </a:bodyPr>
          <a:lstStyle/>
          <a:p>
            <a:pPr marL="0" indent="0" algn="ctr">
              <a:buNone/>
            </a:pPr>
            <a:r>
              <a:rPr lang="en-IN" sz="1800" b="1" dirty="0">
                <a:solidFill>
                  <a:schemeClr val="bg1"/>
                </a:solidFill>
                <a:effectLst/>
                <a:latin typeface="Aparajita" panose="02020603050405020304" pitchFamily="18" charset="0"/>
                <a:cs typeface="Aparajita" panose="02020603050405020304" pitchFamily="18" charset="0"/>
              </a:rPr>
              <a:t>RISK MANAGMENT</a:t>
            </a:r>
          </a:p>
          <a:p>
            <a:pPr marL="0" indent="0">
              <a:buNone/>
            </a:pPr>
            <a:r>
              <a:rPr lang="en-IN" sz="1800" b="0" i="0" dirty="0">
                <a:solidFill>
                  <a:schemeClr val="bg1"/>
                </a:solidFill>
                <a:effectLst/>
                <a:latin typeface="Aparajita" panose="02020603050405020304" pitchFamily="18" charset="0"/>
                <a:cs typeface="Aparajita" panose="02020603050405020304" pitchFamily="18" charset="0"/>
              </a:rPr>
              <a:t>Ultimately, the goal of this analysis is to extract valuable insights that can inform strategic decisions for airlines and carriers. Whether it's optimizing flight schedules, improving operational efficiency, or understanding customer preferences.</a:t>
            </a:r>
            <a:endParaRPr lang="en-IN" sz="1800" dirty="0">
              <a:solidFill>
                <a:schemeClr val="bg1"/>
              </a:solidFill>
              <a:latin typeface="Aparajita" panose="02020603050405020304" pitchFamily="18" charset="0"/>
              <a:cs typeface="Aparajita" panose="02020603050405020304" pitchFamily="18" charset="0"/>
            </a:endParaRPr>
          </a:p>
        </p:txBody>
      </p:sp>
      <p:sp>
        <p:nvSpPr>
          <p:cNvPr id="6" name="Rectangle: Rounded Corners 5">
            <a:extLst>
              <a:ext uri="{FF2B5EF4-FFF2-40B4-BE49-F238E27FC236}">
                <a16:creationId xmlns:a16="http://schemas.microsoft.com/office/drawing/2014/main" id="{FBE1090A-344C-4561-B037-08FB27AED534}"/>
              </a:ext>
            </a:extLst>
          </p:cNvPr>
          <p:cNvSpPr/>
          <p:nvPr/>
        </p:nvSpPr>
        <p:spPr>
          <a:xfrm>
            <a:off x="3255472" y="2683022"/>
            <a:ext cx="2440590" cy="3478490"/>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IN" b="1" dirty="0">
                <a:latin typeface="Aparajita" panose="02020603050405020304" pitchFamily="18" charset="0"/>
                <a:cs typeface="Aparajita" panose="02020603050405020304" pitchFamily="18" charset="0"/>
              </a:rPr>
              <a:t>MARKETING PERFORMANCE</a:t>
            </a:r>
          </a:p>
          <a:p>
            <a:pPr algn="ctr"/>
            <a:r>
              <a:rPr lang="en-IN" dirty="0">
                <a:latin typeface="Aparajita" panose="02020603050405020304" pitchFamily="18" charset="0"/>
                <a:cs typeface="Aparajita" panose="02020603050405020304" pitchFamily="18" charset="0"/>
              </a:rPr>
              <a:t>Secondly, Our focus was to </a:t>
            </a:r>
            <a:r>
              <a:rPr lang="en-IN" dirty="0" err="1">
                <a:latin typeface="Aparajita" panose="02020603050405020304" pitchFamily="18" charset="0"/>
                <a:cs typeface="Aparajita" panose="02020603050405020304" pitchFamily="18" charset="0"/>
              </a:rPr>
              <a:t>analyzing</a:t>
            </a:r>
            <a:r>
              <a:rPr lang="en-IN" dirty="0">
                <a:latin typeface="Aparajita" panose="02020603050405020304" pitchFamily="18" charset="0"/>
                <a:cs typeface="Aparajita" panose="02020603050405020304" pitchFamily="18" charset="0"/>
              </a:rPr>
              <a:t> the dataset provided, the first step involves ensuring that the data is clean and ready for analysis. Once the data is prepared, we can dive into exploring its structure and relationships using various visualizations tools.</a:t>
            </a:r>
          </a:p>
        </p:txBody>
      </p:sp>
      <p:sp>
        <p:nvSpPr>
          <p:cNvPr id="8" name="Rectangle 7">
            <a:extLst>
              <a:ext uri="{FF2B5EF4-FFF2-40B4-BE49-F238E27FC236}">
                <a16:creationId xmlns:a16="http://schemas.microsoft.com/office/drawing/2014/main" id="{F596552A-0233-4AE8-B45C-13BB7CE87DD2}"/>
              </a:ext>
            </a:extLst>
          </p:cNvPr>
          <p:cNvSpPr/>
          <p:nvPr/>
        </p:nvSpPr>
        <p:spPr>
          <a:xfrm>
            <a:off x="287309" y="1002737"/>
            <a:ext cx="641023" cy="923330"/>
          </a:xfrm>
          <a:prstGeom prst="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algn="ctr"/>
            <a:r>
              <a:rPr lang="en-US" sz="54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1</a:t>
            </a:r>
            <a:endPar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
        <p:nvSpPr>
          <p:cNvPr id="9" name="Rectangle 8">
            <a:extLst>
              <a:ext uri="{FF2B5EF4-FFF2-40B4-BE49-F238E27FC236}">
                <a16:creationId xmlns:a16="http://schemas.microsoft.com/office/drawing/2014/main" id="{ADD7681B-4921-4604-953E-CEC15E027463}"/>
              </a:ext>
            </a:extLst>
          </p:cNvPr>
          <p:cNvSpPr/>
          <p:nvPr/>
        </p:nvSpPr>
        <p:spPr>
          <a:xfrm>
            <a:off x="3133253" y="2074369"/>
            <a:ext cx="641023" cy="923330"/>
          </a:xfrm>
          <a:prstGeom prst="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2</a:t>
            </a:r>
          </a:p>
        </p:txBody>
      </p:sp>
      <p:sp>
        <p:nvSpPr>
          <p:cNvPr id="10" name="Rectangle 9">
            <a:extLst>
              <a:ext uri="{FF2B5EF4-FFF2-40B4-BE49-F238E27FC236}">
                <a16:creationId xmlns:a16="http://schemas.microsoft.com/office/drawing/2014/main" id="{7D18BDEF-B084-4E4B-9F70-A4AE09C03D89}"/>
              </a:ext>
            </a:extLst>
          </p:cNvPr>
          <p:cNvSpPr/>
          <p:nvPr/>
        </p:nvSpPr>
        <p:spPr>
          <a:xfrm>
            <a:off x="5882704" y="809393"/>
            <a:ext cx="641023" cy="923330"/>
          </a:xfrm>
          <a:prstGeom prst="rect">
            <a:avLst/>
          </a:prstGeom>
          <a:solidFill>
            <a:schemeClr val="bg2">
              <a:lumMod val="5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lIns="91440" tIns="45720" rIns="91440" bIns="45720">
            <a:spAutoFit/>
          </a:bodyPr>
          <a:lstStyle/>
          <a:p>
            <a:pPr algn="ctr"/>
            <a:r>
              <a:rPr lang="en-US" sz="54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3</a:t>
            </a:r>
          </a:p>
        </p:txBody>
      </p:sp>
      <p:pic>
        <p:nvPicPr>
          <p:cNvPr id="12" name="Picture 11">
            <a:extLst>
              <a:ext uri="{FF2B5EF4-FFF2-40B4-BE49-F238E27FC236}">
                <a16:creationId xmlns:a16="http://schemas.microsoft.com/office/drawing/2014/main" id="{E5DF270D-3523-47C8-9D65-137AA34C7F90}"/>
              </a:ext>
            </a:extLst>
          </p:cNvPr>
          <p:cNvPicPr>
            <a:picLocks noChangeAspect="1"/>
          </p:cNvPicPr>
          <p:nvPr/>
        </p:nvPicPr>
        <p:blipFill>
          <a:blip r:embed="rId2">
            <a:alphaModFix amt="20000"/>
            <a:extLst>
              <a:ext uri="{837473B0-CC2E-450A-ABE3-18F120FF3D39}">
                <a1611:picAttrSrcUrl xmlns:a1611="http://schemas.microsoft.com/office/drawing/2016/11/main" xmlns="" r:id="rId3"/>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575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456DD-00CD-4CF5-A79E-352EA66A1747}"/>
              </a:ext>
            </a:extLst>
          </p:cNvPr>
          <p:cNvSpPr>
            <a:spLocks noGrp="1"/>
          </p:cNvSpPr>
          <p:nvPr>
            <p:ph type="title"/>
          </p:nvPr>
        </p:nvSpPr>
        <p:spPr>
          <a:xfrm>
            <a:off x="533400" y="168897"/>
            <a:ext cx="6554867" cy="832610"/>
          </a:xfrm>
        </p:spPr>
        <p:txBody>
          <a:bodyPr/>
          <a:lstStyle/>
          <a:p>
            <a:r>
              <a:rPr lang="en-US" dirty="0">
                <a:solidFill>
                  <a:schemeClr val="bg1"/>
                </a:solidFill>
                <a:latin typeface="Algerian" panose="04020705040A02060702" pitchFamily="82" charset="0"/>
              </a:rPr>
              <a:t>PREFERRED DEPARTURE</a:t>
            </a:r>
            <a:endParaRPr lang="en-IN" dirty="0">
              <a:solidFill>
                <a:schemeClr val="bg1"/>
              </a:solidFill>
              <a:latin typeface="Algerian" panose="04020705040A02060702" pitchFamily="82" charset="0"/>
            </a:endParaRPr>
          </a:p>
        </p:txBody>
      </p:sp>
      <p:graphicFrame>
        <p:nvGraphicFramePr>
          <p:cNvPr id="4" name="Content Placeholder 3">
            <a:extLst>
              <a:ext uri="{FF2B5EF4-FFF2-40B4-BE49-F238E27FC236}">
                <a16:creationId xmlns:a16="http://schemas.microsoft.com/office/drawing/2014/main" id="{0132A275-E57F-4FD2-BAF9-6A5A615F740A}"/>
              </a:ext>
            </a:extLst>
          </p:cNvPr>
          <p:cNvGraphicFramePr>
            <a:graphicFrameLocks noGrp="1"/>
          </p:cNvGraphicFramePr>
          <p:nvPr>
            <p:ph idx="1"/>
            <p:extLst>
              <p:ext uri="{D42A27DB-BD31-4B8C-83A1-F6EECF244321}">
                <p14:modId xmlns:p14="http://schemas.microsoft.com/office/powerpoint/2010/main" val="4021998797"/>
              </p:ext>
            </p:extLst>
          </p:nvPr>
        </p:nvGraphicFramePr>
        <p:xfrm>
          <a:off x="169682" y="1206500"/>
          <a:ext cx="8710367" cy="533558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6299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17AFB-ED0E-4C4F-8A5E-6F5C544F3537}"/>
              </a:ext>
            </a:extLst>
          </p:cNvPr>
          <p:cNvSpPr>
            <a:spLocks noGrp="1"/>
          </p:cNvSpPr>
          <p:nvPr>
            <p:ph type="title"/>
          </p:nvPr>
        </p:nvSpPr>
        <p:spPr>
          <a:xfrm>
            <a:off x="179110" y="334653"/>
            <a:ext cx="8295587" cy="645735"/>
          </a:xfrm>
        </p:spPr>
        <p:txBody>
          <a:bodyPr/>
          <a:lstStyle/>
          <a:p>
            <a:r>
              <a:rPr lang="en-US" dirty="0">
                <a:solidFill>
                  <a:schemeClr val="bg1"/>
                </a:solidFill>
                <a:latin typeface="Algerian" panose="04020705040A02060702" pitchFamily="82" charset="0"/>
              </a:rPr>
              <a:t>Excel dashboard</a:t>
            </a:r>
            <a:endParaRPr lang="en-IN" dirty="0">
              <a:solidFill>
                <a:schemeClr val="bg1"/>
              </a:solidFill>
              <a:latin typeface="Algerian" panose="04020705040A02060702" pitchFamily="82" charset="0"/>
            </a:endParaRPr>
          </a:p>
        </p:txBody>
      </p:sp>
      <p:pic>
        <p:nvPicPr>
          <p:cNvPr id="5" name="Content Placeholder 4">
            <a:extLst>
              <a:ext uri="{FF2B5EF4-FFF2-40B4-BE49-F238E27FC236}">
                <a16:creationId xmlns:a16="http://schemas.microsoft.com/office/drawing/2014/main" id="{9BCFCCD8-A0DF-4E54-82C2-609E15B6A1B9}"/>
              </a:ext>
            </a:extLst>
          </p:cNvPr>
          <p:cNvPicPr>
            <a:picLocks noGrp="1" noChangeAspect="1"/>
          </p:cNvPicPr>
          <p:nvPr>
            <p:ph idx="1"/>
          </p:nvPr>
        </p:nvPicPr>
        <p:blipFill rotWithShape="1">
          <a:blip r:embed="rId2"/>
          <a:srcRect t="24129" r="24740" b="9645"/>
          <a:stretch/>
        </p:blipFill>
        <p:spPr>
          <a:xfrm>
            <a:off x="179110" y="1178351"/>
            <a:ext cx="8814062" cy="5505253"/>
          </a:xfrm>
        </p:spPr>
      </p:pic>
    </p:spTree>
    <p:extLst>
      <p:ext uri="{BB962C8B-B14F-4D97-AF65-F5344CB8AC3E}">
        <p14:creationId xmlns:p14="http://schemas.microsoft.com/office/powerpoint/2010/main" val="2671402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526" y="310300"/>
            <a:ext cx="6720620" cy="660662"/>
          </a:xfrm>
        </p:spPr>
        <p:txBody>
          <a:bodyPr/>
          <a:lstStyle/>
          <a:p>
            <a:r>
              <a:rPr lang="en-US" dirty="0">
                <a:solidFill>
                  <a:schemeClr val="bg1"/>
                </a:solidFill>
                <a:latin typeface="Algerian" panose="04020705040A02060702" pitchFamily="82" charset="0"/>
              </a:rPr>
              <a:t>POWERBI DASHBOARD</a:t>
            </a:r>
            <a:endParaRPr dirty="0">
              <a:solidFill>
                <a:schemeClr val="bg1"/>
              </a:solidFill>
              <a:latin typeface="Algerian" panose="04020705040A02060702" pitchFamily="82" charset="0"/>
            </a:endParaRPr>
          </a:p>
        </p:txBody>
      </p:sp>
      <p:pic>
        <p:nvPicPr>
          <p:cNvPr id="5" name="Content Placeholder 4">
            <a:extLst>
              <a:ext uri="{FF2B5EF4-FFF2-40B4-BE49-F238E27FC236}">
                <a16:creationId xmlns:a16="http://schemas.microsoft.com/office/drawing/2014/main" id="{FCDE5265-CF59-4B4C-A602-6C461BE52AB7}"/>
              </a:ext>
            </a:extLst>
          </p:cNvPr>
          <p:cNvPicPr>
            <a:picLocks noGrp="1" noChangeAspect="1"/>
          </p:cNvPicPr>
          <p:nvPr>
            <p:ph idx="1"/>
          </p:nvPr>
        </p:nvPicPr>
        <p:blipFill rotWithShape="1">
          <a:blip r:embed="rId2"/>
          <a:srcRect l="13788" t="18651" r="18330" b="11632"/>
          <a:stretch/>
        </p:blipFill>
        <p:spPr>
          <a:xfrm>
            <a:off x="207390" y="1102936"/>
            <a:ext cx="8785781" cy="5599522"/>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863" y="193248"/>
            <a:ext cx="6554867" cy="617457"/>
          </a:xfrm>
        </p:spPr>
        <p:txBody>
          <a:bodyPr/>
          <a:lstStyle/>
          <a:p>
            <a:r>
              <a:rPr lang="en-US" dirty="0">
                <a:solidFill>
                  <a:schemeClr val="bg1"/>
                </a:solidFill>
                <a:latin typeface="Algerian" panose="04020705040A02060702" pitchFamily="82" charset="0"/>
              </a:rPr>
              <a:t>TABLEAU DASHBOARD</a:t>
            </a:r>
            <a:endParaRPr dirty="0">
              <a:solidFill>
                <a:schemeClr val="bg1"/>
              </a:solidFill>
              <a:latin typeface="Algerian" panose="04020705040A02060702" pitchFamily="82" charset="0"/>
            </a:endParaRPr>
          </a:p>
        </p:txBody>
      </p:sp>
      <p:pic>
        <p:nvPicPr>
          <p:cNvPr id="5" name="Content Placeholder 4">
            <a:extLst>
              <a:ext uri="{FF2B5EF4-FFF2-40B4-BE49-F238E27FC236}">
                <a16:creationId xmlns:a16="http://schemas.microsoft.com/office/drawing/2014/main" id="{D5919613-5A2F-4F5B-A156-5A00A6A70023}"/>
              </a:ext>
            </a:extLst>
          </p:cNvPr>
          <p:cNvPicPr>
            <a:picLocks noGrp="1" noChangeAspect="1"/>
          </p:cNvPicPr>
          <p:nvPr>
            <p:ph idx="1"/>
          </p:nvPr>
        </p:nvPicPr>
        <p:blipFill rotWithShape="1">
          <a:blip r:embed="rId2"/>
          <a:srcRect l="2423" t="17523" r="9600" b="11603"/>
          <a:stretch/>
        </p:blipFill>
        <p:spPr>
          <a:xfrm>
            <a:off x="207390" y="942679"/>
            <a:ext cx="8748073" cy="5722072"/>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3C9359-B3FC-D0D6-F805-B42ACCAEA734}"/>
              </a:ext>
            </a:extLst>
          </p:cNvPr>
          <p:cNvSpPr>
            <a:spLocks noGrp="1"/>
          </p:cNvSpPr>
          <p:nvPr>
            <p:ph idx="1"/>
          </p:nvPr>
        </p:nvSpPr>
        <p:spPr>
          <a:xfrm>
            <a:off x="314036" y="533400"/>
            <a:ext cx="8552873" cy="5913582"/>
          </a:xfrm>
        </p:spPr>
        <p:txBody>
          <a:bodyPr/>
          <a:lstStyle/>
          <a:p>
            <a:pPr marL="0" indent="0">
              <a:buNone/>
            </a:pPr>
            <a:r>
              <a:rPr lang="en-US" sz="2400" b="1" dirty="0">
                <a:solidFill>
                  <a:schemeClr val="bg1"/>
                </a:solidFill>
                <a:latin typeface="Algerian" panose="04020705040A02060702" pitchFamily="82" charset="0"/>
              </a:rPr>
              <a:t>SQL</a:t>
            </a:r>
          </a:p>
          <a:p>
            <a:r>
              <a:rPr lang="en-US" dirty="0"/>
              <a:t>For SQL we have to use ‘airline </a:t>
            </a:r>
            <a:r>
              <a:rPr lang="en-US" dirty="0" err="1"/>
              <a:t>maindata.sql</a:t>
            </a:r>
            <a:r>
              <a:rPr lang="en-US" dirty="0"/>
              <a:t>’ file as provided.</a:t>
            </a:r>
          </a:p>
          <a:p>
            <a:r>
              <a:rPr lang="en-US" dirty="0"/>
              <a:t>With help of it our tables are created.</a:t>
            </a:r>
          </a:p>
          <a:p>
            <a:r>
              <a:rPr lang="en-US" dirty="0"/>
              <a:t>We and write queries and get output for it.</a:t>
            </a:r>
          </a:p>
          <a:p>
            <a:r>
              <a:rPr lang="en-US" dirty="0"/>
              <a:t>Below is our SQL file. </a:t>
            </a:r>
          </a:p>
          <a:p>
            <a:r>
              <a:rPr lang="en-US" dirty="0" err="1">
                <a:hlinkClick r:id="rId2" action="ppaction://hlinkfile"/>
              </a:rPr>
              <a:t>Project_file.sql</a:t>
            </a:r>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217495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399" y="160256"/>
            <a:ext cx="8176967" cy="801278"/>
          </a:xfrm>
        </p:spPr>
        <p:txBody>
          <a:bodyPr>
            <a:normAutofit fontScale="90000"/>
          </a:bodyPr>
          <a:lstStyle/>
          <a:p>
            <a:r>
              <a:rPr lang="en-US" dirty="0">
                <a:solidFill>
                  <a:schemeClr val="bg1"/>
                </a:solidFill>
                <a:latin typeface="Algerian" panose="04020705040A02060702" pitchFamily="82" charset="0"/>
              </a:rPr>
              <a:t>What we have learnt from this project</a:t>
            </a:r>
            <a:endParaRPr dirty="0">
              <a:solidFill>
                <a:schemeClr val="bg1"/>
              </a:solidFill>
              <a:latin typeface="Algerian" panose="04020705040A02060702" pitchFamily="82" charset="0"/>
            </a:endParaRPr>
          </a:p>
        </p:txBody>
      </p:sp>
      <p:sp>
        <p:nvSpPr>
          <p:cNvPr id="3" name="Content Placeholder 2"/>
          <p:cNvSpPr>
            <a:spLocks noGrp="1"/>
          </p:cNvSpPr>
          <p:nvPr>
            <p:ph idx="1"/>
          </p:nvPr>
        </p:nvSpPr>
        <p:spPr>
          <a:xfrm>
            <a:off x="533399" y="961533"/>
            <a:ext cx="8176968" cy="5618375"/>
          </a:xfrm>
        </p:spPr>
        <p:txBody>
          <a:bodyPr>
            <a:noAutofit/>
          </a:bodyPr>
          <a:lstStyle/>
          <a:p>
            <a:r>
              <a:rPr lang="en-IN" b="0" i="0" dirty="0">
                <a:solidFill>
                  <a:schemeClr val="bg1"/>
                </a:solidFill>
                <a:effectLst/>
                <a:latin typeface="Aparajita" panose="02020603050405020304" pitchFamily="18" charset="0"/>
                <a:cs typeface="Aparajita" panose="02020603050405020304" pitchFamily="18" charset="0"/>
              </a:rPr>
              <a:t>Load factor is a key metric used for benchmarking an airline's performance against competitors. Airlines may compare their load factors with industry averages to assess their relative position in the market.</a:t>
            </a:r>
          </a:p>
          <a:p>
            <a:r>
              <a:rPr lang="en-IN" b="0" i="0" dirty="0">
                <a:solidFill>
                  <a:schemeClr val="bg1"/>
                </a:solidFill>
                <a:effectLst/>
                <a:latin typeface="Aparajita" panose="02020603050405020304" pitchFamily="18" charset="0"/>
                <a:cs typeface="Aparajita" panose="02020603050405020304" pitchFamily="18" charset="0"/>
              </a:rPr>
              <a:t>Airlines use load factor data for strategic planning, route optimization, and fleet management.</a:t>
            </a:r>
          </a:p>
          <a:p>
            <a:r>
              <a:rPr lang="en-IN" b="0" i="0" dirty="0">
                <a:solidFill>
                  <a:schemeClr val="bg1"/>
                </a:solidFill>
                <a:effectLst/>
                <a:latin typeface="Aparajita" panose="02020603050405020304" pitchFamily="18" charset="0"/>
                <a:cs typeface="Aparajita" panose="02020603050405020304" pitchFamily="18" charset="0"/>
              </a:rPr>
              <a:t>As per the Analysis 2017(17.42) has the highest load factor and 2009(15.66) has the lowest load factor which directly impacts the airlines financial performance. </a:t>
            </a:r>
          </a:p>
          <a:p>
            <a:r>
              <a:rPr lang="en-IN" b="0" i="0" dirty="0">
                <a:solidFill>
                  <a:schemeClr val="bg1"/>
                </a:solidFill>
                <a:effectLst/>
                <a:latin typeface="Aparajita" panose="02020603050405020304" pitchFamily="18" charset="0"/>
                <a:cs typeface="Aparajita" panose="02020603050405020304" pitchFamily="18" charset="0"/>
              </a:rPr>
              <a:t>Operating with consistently low load factors may lead to financial loses, while maintain a high load factor contributes to profitability </a:t>
            </a:r>
          </a:p>
          <a:p>
            <a:r>
              <a:rPr lang="en-IN" b="0" i="0" dirty="0">
                <a:solidFill>
                  <a:schemeClr val="bg1"/>
                </a:solidFill>
                <a:effectLst/>
                <a:latin typeface="Aparajita" panose="02020603050405020304" pitchFamily="18" charset="0"/>
                <a:cs typeface="Aparajita" panose="02020603050405020304" pitchFamily="18" charset="0"/>
              </a:rPr>
              <a:t>Also, Delta Airlines Inc. has the highest load factor which is 19.60% with 8721 transported passengers </a:t>
            </a:r>
          </a:p>
          <a:p>
            <a:r>
              <a:rPr lang="en-IN" b="0" i="0" dirty="0">
                <a:solidFill>
                  <a:schemeClr val="bg1"/>
                </a:solidFill>
                <a:effectLst/>
                <a:latin typeface="Aparajita" panose="02020603050405020304" pitchFamily="18" charset="0"/>
                <a:cs typeface="Aparajita" panose="02020603050405020304" pitchFamily="18" charset="0"/>
              </a:rPr>
              <a:t>Airlines known for consistently high load factors may be perceived as operationally efficient and capable of maximizing revenue through effective capacity utilization and can be the successful in revenue generation</a:t>
            </a:r>
          </a:p>
          <a:p>
            <a:r>
              <a:rPr lang="en-IN" b="0" i="0" dirty="0">
                <a:solidFill>
                  <a:schemeClr val="bg1"/>
                </a:solidFill>
                <a:effectLst/>
                <a:latin typeface="Aparajita" panose="02020603050405020304" pitchFamily="18" charset="0"/>
                <a:cs typeface="Aparajita" panose="02020603050405020304" pitchFamily="18" charset="0"/>
              </a:rPr>
              <a:t>Passengers often associate crowded flights with popular routes and may choose carriers with higher load factors for a sense of reliability</a:t>
            </a:r>
            <a:endParaRPr dirty="0">
              <a:solidFill>
                <a:schemeClr val="bg1"/>
              </a:solidFill>
              <a:latin typeface="Aparajita" panose="02020603050405020304" pitchFamily="18" charset="0"/>
              <a:cs typeface="Aparajita" panose="02020603050405020304" pitchFamily="18" charset="0"/>
            </a:endParaRPr>
          </a:p>
        </p:txBody>
      </p:sp>
      <p:pic>
        <p:nvPicPr>
          <p:cNvPr id="7" name="Picture 6">
            <a:extLst>
              <a:ext uri="{FF2B5EF4-FFF2-40B4-BE49-F238E27FC236}">
                <a16:creationId xmlns:a16="http://schemas.microsoft.com/office/drawing/2014/main" id="{7E9962F5-D372-4700-84C1-BE552BEB29F7}"/>
              </a:ext>
            </a:extLst>
          </p:cNvPr>
          <p:cNvPicPr>
            <a:picLocks noChangeAspect="1"/>
          </p:cNvPicPr>
          <p:nvPr/>
        </p:nvPicPr>
        <p:blipFill>
          <a:blip r:embed="rId2">
            <a:alphaModFix amt="35000"/>
            <a:extLst>
              <a:ext uri="{837473B0-CC2E-450A-ABE3-18F120FF3D39}">
                <a1611:picAttrSrcUrl xmlns:a1611="http://schemas.microsoft.com/office/drawing/2016/11/main" xmlns="" r:id="rId3"/>
              </a:ext>
            </a:extLst>
          </a:blip>
          <a:stretch>
            <a:fillRect/>
          </a:stretch>
        </p:blipFill>
        <p:spPr>
          <a:xfrm>
            <a:off x="0" y="0"/>
            <a:ext cx="9144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863B6-1339-4C6F-9A5A-BDB17F7D57E7}"/>
              </a:ext>
            </a:extLst>
          </p:cNvPr>
          <p:cNvSpPr>
            <a:spLocks noGrp="1"/>
          </p:cNvSpPr>
          <p:nvPr>
            <p:ph type="title"/>
          </p:nvPr>
        </p:nvSpPr>
        <p:spPr>
          <a:xfrm>
            <a:off x="533399" y="141402"/>
            <a:ext cx="6554867" cy="904973"/>
          </a:xfrm>
        </p:spPr>
        <p:txBody>
          <a:bodyPr/>
          <a:lstStyle/>
          <a:p>
            <a:r>
              <a:rPr lang="en-US" dirty="0">
                <a:solidFill>
                  <a:schemeClr val="bg1"/>
                </a:solidFill>
                <a:latin typeface="Algerian" panose="04020705040A02060702" pitchFamily="82" charset="0"/>
              </a:rPr>
              <a:t>RECOMMENDATION</a:t>
            </a:r>
            <a:endParaRPr lang="en-IN" dirty="0">
              <a:solidFill>
                <a:schemeClr val="bg1"/>
              </a:solidFill>
              <a:latin typeface="Algerian" panose="04020705040A02060702" pitchFamily="82" charset="0"/>
            </a:endParaRPr>
          </a:p>
        </p:txBody>
      </p:sp>
      <p:pic>
        <p:nvPicPr>
          <p:cNvPr id="11" name="Content Placeholder 10">
            <a:extLst>
              <a:ext uri="{FF2B5EF4-FFF2-40B4-BE49-F238E27FC236}">
                <a16:creationId xmlns:a16="http://schemas.microsoft.com/office/drawing/2014/main" id="{87049135-AE51-4779-BD37-C0F65718263B}"/>
              </a:ext>
            </a:extLst>
          </p:cNvPr>
          <p:cNvPicPr>
            <a:picLocks noGrp="1" noChangeAspect="1"/>
          </p:cNvPicPr>
          <p:nvPr>
            <p:ph idx="1"/>
          </p:nvPr>
        </p:nvPicPr>
        <p:blipFill>
          <a:blip r:embed="rId2">
            <a:alphaModFix amt="50000"/>
            <a:extLst>
              <a:ext uri="{837473B0-CC2E-450A-ABE3-18F120FF3D39}">
                <a1611:picAttrSrcUrl xmlns:a1611="http://schemas.microsoft.com/office/drawing/2016/11/main" xmlns="" r:id="rId3"/>
              </a:ext>
            </a:extLst>
          </a:blip>
          <a:stretch>
            <a:fillRect/>
          </a:stretch>
        </p:blipFill>
        <p:spPr>
          <a:xfrm>
            <a:off x="-8639" y="0"/>
            <a:ext cx="9152639" cy="6858000"/>
          </a:xfrm>
        </p:spPr>
      </p:pic>
      <p:sp>
        <p:nvSpPr>
          <p:cNvPr id="4" name="Rectangle: Diagonal Corners Rounded 3">
            <a:extLst>
              <a:ext uri="{FF2B5EF4-FFF2-40B4-BE49-F238E27FC236}">
                <a16:creationId xmlns:a16="http://schemas.microsoft.com/office/drawing/2014/main" id="{BE20D6C3-7EB1-4484-A3AA-5F5B653656B2}"/>
              </a:ext>
            </a:extLst>
          </p:cNvPr>
          <p:cNvSpPr/>
          <p:nvPr/>
        </p:nvSpPr>
        <p:spPr>
          <a:xfrm>
            <a:off x="787000" y="1434430"/>
            <a:ext cx="3580814" cy="170451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0" dirty="0">
                <a:solidFill>
                  <a:srgbClr val="E8E8E8"/>
                </a:solidFill>
                <a:effectLst/>
                <a:highlight>
                  <a:srgbClr val="808080"/>
                </a:highlight>
                <a:latin typeface="Aparajita" panose="02020603050405020304" pitchFamily="18" charset="0"/>
                <a:cs typeface="Aparajita" panose="02020603050405020304" pitchFamily="18" charset="0"/>
              </a:rPr>
              <a:t>Optimize Flight Routes: Utilize </a:t>
            </a:r>
            <a:r>
              <a:rPr lang="en-IN" sz="2000" b="0" i="0" dirty="0">
                <a:solidFill>
                  <a:srgbClr val="E8E8E8"/>
                </a:solidFill>
                <a:effectLst/>
                <a:latin typeface="Aparajita" panose="02020603050405020304" pitchFamily="18" charset="0"/>
                <a:cs typeface="Aparajita" panose="02020603050405020304" pitchFamily="18" charset="0"/>
              </a:rPr>
              <a:t>insights from top routes and flights to optimize schedules and resource allocation.</a:t>
            </a:r>
            <a:endParaRPr lang="en-IN" sz="2000" dirty="0">
              <a:latin typeface="Aparajita" panose="02020603050405020304" pitchFamily="18" charset="0"/>
              <a:cs typeface="Aparajita" panose="02020603050405020304" pitchFamily="18" charset="0"/>
            </a:endParaRPr>
          </a:p>
        </p:txBody>
      </p:sp>
      <p:sp>
        <p:nvSpPr>
          <p:cNvPr id="5" name="Rectangle: Diagonal Corners Rounded 4">
            <a:extLst>
              <a:ext uri="{FF2B5EF4-FFF2-40B4-BE49-F238E27FC236}">
                <a16:creationId xmlns:a16="http://schemas.microsoft.com/office/drawing/2014/main" id="{68CF7D08-3792-4154-8FCB-35E03E40B72D}"/>
              </a:ext>
            </a:extLst>
          </p:cNvPr>
          <p:cNvSpPr/>
          <p:nvPr/>
        </p:nvSpPr>
        <p:spPr>
          <a:xfrm>
            <a:off x="4731061" y="1828799"/>
            <a:ext cx="3702725" cy="1704513"/>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0" dirty="0">
                <a:solidFill>
                  <a:srgbClr val="E8E8E8"/>
                </a:solidFill>
                <a:effectLst/>
                <a:highlight>
                  <a:srgbClr val="808080"/>
                </a:highlight>
                <a:latin typeface="Aparajita" panose="02020603050405020304" pitchFamily="18" charset="0"/>
                <a:cs typeface="Aparajita" panose="02020603050405020304" pitchFamily="18" charset="0"/>
              </a:rPr>
              <a:t>Enhance Load Factor:</a:t>
            </a:r>
          </a:p>
          <a:p>
            <a:pPr algn="ctr"/>
            <a:r>
              <a:rPr lang="en-IN" sz="2000" b="0" i="0" dirty="0">
                <a:solidFill>
                  <a:srgbClr val="E8E8E8"/>
                </a:solidFill>
                <a:effectLst/>
                <a:latin typeface="Aparajita" panose="02020603050405020304" pitchFamily="18" charset="0"/>
                <a:cs typeface="Aparajita" panose="02020603050405020304" pitchFamily="18" charset="0"/>
              </a:rPr>
              <a:t> Leverage load factor analysis to identify trends and implement strategies for increased efficiency.</a:t>
            </a:r>
            <a:endParaRPr lang="en-IN" sz="2000" dirty="0">
              <a:latin typeface="Aparajita" panose="02020603050405020304" pitchFamily="18" charset="0"/>
              <a:cs typeface="Aparajita" panose="02020603050405020304" pitchFamily="18" charset="0"/>
            </a:endParaRPr>
          </a:p>
        </p:txBody>
      </p:sp>
      <p:sp>
        <p:nvSpPr>
          <p:cNvPr id="6" name="Rectangle: Diagonal Corners Rounded 5">
            <a:extLst>
              <a:ext uri="{FF2B5EF4-FFF2-40B4-BE49-F238E27FC236}">
                <a16:creationId xmlns:a16="http://schemas.microsoft.com/office/drawing/2014/main" id="{A3BD509D-B97D-4386-8B88-5C640B471431}"/>
              </a:ext>
            </a:extLst>
          </p:cNvPr>
          <p:cNvSpPr/>
          <p:nvPr/>
        </p:nvSpPr>
        <p:spPr>
          <a:xfrm>
            <a:off x="896645" y="3429000"/>
            <a:ext cx="3346881" cy="211066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0" dirty="0">
                <a:solidFill>
                  <a:srgbClr val="E8E8E8"/>
                </a:solidFill>
                <a:effectLst/>
                <a:highlight>
                  <a:srgbClr val="808080"/>
                </a:highlight>
                <a:latin typeface="Aparajita" panose="02020603050405020304" pitchFamily="18" charset="0"/>
                <a:cs typeface="Aparajita" panose="02020603050405020304" pitchFamily="18" charset="0"/>
              </a:rPr>
              <a:t>Strategic Carrier Partnerships: </a:t>
            </a:r>
            <a:r>
              <a:rPr lang="en-IN" sz="2000" b="0" i="0" dirty="0">
                <a:solidFill>
                  <a:srgbClr val="E8E8E8"/>
                </a:solidFill>
                <a:effectLst/>
                <a:latin typeface="Aparajita" panose="02020603050405020304" pitchFamily="18" charset="0"/>
                <a:cs typeface="Aparajita" panose="02020603050405020304" pitchFamily="18" charset="0"/>
              </a:rPr>
              <a:t>Collaborate with top carriers to maximize passenger transportation and enhance overall performance.</a:t>
            </a:r>
            <a:endParaRPr lang="en-IN" sz="2000" dirty="0">
              <a:latin typeface="Aparajita" panose="02020603050405020304" pitchFamily="18" charset="0"/>
              <a:cs typeface="Aparajita" panose="02020603050405020304" pitchFamily="18" charset="0"/>
            </a:endParaRPr>
          </a:p>
        </p:txBody>
      </p:sp>
      <p:sp>
        <p:nvSpPr>
          <p:cNvPr id="9" name="Rectangle: Diagonal Corners Rounded 8">
            <a:extLst>
              <a:ext uri="{FF2B5EF4-FFF2-40B4-BE49-F238E27FC236}">
                <a16:creationId xmlns:a16="http://schemas.microsoft.com/office/drawing/2014/main" id="{BDEDB482-D4E6-4EDE-A009-93D0227B0750}"/>
              </a:ext>
            </a:extLst>
          </p:cNvPr>
          <p:cNvSpPr/>
          <p:nvPr/>
        </p:nvSpPr>
        <p:spPr>
          <a:xfrm>
            <a:off x="4572000" y="3826276"/>
            <a:ext cx="3861786" cy="2077374"/>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i="0" dirty="0">
                <a:solidFill>
                  <a:srgbClr val="E8E8E8"/>
                </a:solidFill>
                <a:effectLst/>
                <a:highlight>
                  <a:srgbClr val="808080"/>
                </a:highlight>
                <a:latin typeface="Aparajita" panose="02020603050405020304" pitchFamily="18" charset="0"/>
                <a:cs typeface="Aparajita" panose="02020603050405020304" pitchFamily="18" charset="0"/>
              </a:rPr>
              <a:t>Resource Allocation: </a:t>
            </a:r>
          </a:p>
          <a:p>
            <a:pPr algn="ctr"/>
            <a:r>
              <a:rPr lang="en-IN" sz="2000" b="0" i="0" dirty="0">
                <a:solidFill>
                  <a:srgbClr val="E8E8E8"/>
                </a:solidFill>
                <a:effectLst/>
                <a:latin typeface="Aparajita" panose="02020603050405020304" pitchFamily="18" charset="0"/>
                <a:cs typeface="Aparajita" panose="02020603050405020304" pitchFamily="18" charset="0"/>
              </a:rPr>
              <a:t>Allocate resources strategically based on flight schedules and passenger volume data. This ensures efficient operations and minimizes wait times at airports with high passenger traffic.</a:t>
            </a:r>
            <a:endParaRPr lang="en-IN" sz="20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39788542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61A5F-7EAD-4E30-99E9-26D646688DE9}"/>
              </a:ext>
            </a:extLst>
          </p:cNvPr>
          <p:cNvSpPr>
            <a:spLocks noGrp="1"/>
          </p:cNvSpPr>
          <p:nvPr>
            <p:ph type="title"/>
          </p:nvPr>
        </p:nvSpPr>
        <p:spPr>
          <a:xfrm>
            <a:off x="533399" y="159798"/>
            <a:ext cx="6554867" cy="612559"/>
          </a:xfrm>
        </p:spPr>
        <p:txBody>
          <a:bodyPr/>
          <a:lstStyle/>
          <a:p>
            <a:r>
              <a:rPr lang="en-US" dirty="0">
                <a:solidFill>
                  <a:schemeClr val="bg1"/>
                </a:solidFill>
                <a:latin typeface="Algerian" panose="04020705040A02060702" pitchFamily="82" charset="0"/>
              </a:rPr>
              <a:t>PROJECT SCOPE</a:t>
            </a:r>
            <a:endParaRPr lang="en-IN" dirty="0">
              <a:solidFill>
                <a:schemeClr val="bg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5F7C46BE-9768-4C63-A299-5B3785AB9D0A}"/>
              </a:ext>
            </a:extLst>
          </p:cNvPr>
          <p:cNvSpPr>
            <a:spLocks noGrp="1"/>
          </p:cNvSpPr>
          <p:nvPr>
            <p:ph idx="1"/>
          </p:nvPr>
        </p:nvSpPr>
        <p:spPr>
          <a:xfrm>
            <a:off x="533399" y="896645"/>
            <a:ext cx="8166717" cy="3790765"/>
          </a:xfrm>
        </p:spPr>
        <p:txBody>
          <a:bodyPr>
            <a:normAutofit/>
          </a:bodyPr>
          <a:lstStyle/>
          <a:p>
            <a:r>
              <a:rPr lang="en-IN" sz="2400" dirty="0">
                <a:solidFill>
                  <a:schemeClr val="bg1"/>
                </a:solidFill>
                <a:latin typeface="Aparajita" panose="02020603050405020304" pitchFamily="18" charset="0"/>
                <a:cs typeface="Aparajita" panose="02020603050405020304" pitchFamily="18" charset="0"/>
              </a:rPr>
              <a:t>This project aimed to leverage the power of data analysis and extract valuable insights to optimize High Cloud Airlines operations and performance. The specific scope of the project focused on </a:t>
            </a:r>
            <a:r>
              <a:rPr lang="en-IN" sz="2400" dirty="0" err="1">
                <a:solidFill>
                  <a:schemeClr val="bg1"/>
                </a:solidFill>
                <a:latin typeface="Aparajita" panose="02020603050405020304" pitchFamily="18" charset="0"/>
                <a:cs typeface="Aparajita" panose="02020603050405020304" pitchFamily="18" charset="0"/>
              </a:rPr>
              <a:t>analyzing</a:t>
            </a:r>
            <a:r>
              <a:rPr lang="en-IN" sz="2400" dirty="0">
                <a:solidFill>
                  <a:schemeClr val="bg1"/>
                </a:solidFill>
                <a:latin typeface="Aparajita" panose="02020603050405020304" pitchFamily="18" charset="0"/>
                <a:cs typeface="Aparajita" panose="02020603050405020304" pitchFamily="18" charset="0"/>
              </a:rPr>
              <a:t> key performance indicators (KPIs) to gain a deeper understanding of:</a:t>
            </a:r>
          </a:p>
          <a:p>
            <a:r>
              <a:rPr lang="en-IN" sz="2400" dirty="0">
                <a:solidFill>
                  <a:schemeClr val="bg1"/>
                </a:solidFill>
                <a:latin typeface="Aparajita" panose="02020603050405020304" pitchFamily="18" charset="0"/>
                <a:cs typeface="Aparajita" panose="02020603050405020304" pitchFamily="18" charset="0"/>
              </a:rPr>
              <a:t>Load Factor</a:t>
            </a:r>
          </a:p>
          <a:p>
            <a:r>
              <a:rPr lang="en-IN" sz="2400" dirty="0">
                <a:solidFill>
                  <a:schemeClr val="bg1"/>
                </a:solidFill>
                <a:latin typeface="Aparajita" panose="02020603050405020304" pitchFamily="18" charset="0"/>
                <a:cs typeface="Aparajita" panose="02020603050405020304" pitchFamily="18" charset="0"/>
              </a:rPr>
              <a:t>Passenger Preferences</a:t>
            </a:r>
          </a:p>
          <a:p>
            <a:r>
              <a:rPr lang="en-IN" sz="2400" dirty="0">
                <a:solidFill>
                  <a:schemeClr val="bg1"/>
                </a:solidFill>
                <a:latin typeface="Aparajita" panose="02020603050405020304" pitchFamily="18" charset="0"/>
                <a:cs typeface="Aparajita" panose="02020603050405020304" pitchFamily="18" charset="0"/>
              </a:rPr>
              <a:t>Popular Routes</a:t>
            </a:r>
          </a:p>
          <a:p>
            <a:r>
              <a:rPr lang="en-IN" sz="2400" dirty="0">
                <a:solidFill>
                  <a:schemeClr val="bg1"/>
                </a:solidFill>
                <a:latin typeface="Aparajita" panose="02020603050405020304" pitchFamily="18" charset="0"/>
                <a:cs typeface="Aparajita" panose="02020603050405020304" pitchFamily="18" charset="0"/>
              </a:rPr>
              <a:t>Operational Efficiency</a:t>
            </a:r>
          </a:p>
        </p:txBody>
      </p:sp>
      <p:pic>
        <p:nvPicPr>
          <p:cNvPr id="5" name="Picture 4">
            <a:extLst>
              <a:ext uri="{FF2B5EF4-FFF2-40B4-BE49-F238E27FC236}">
                <a16:creationId xmlns:a16="http://schemas.microsoft.com/office/drawing/2014/main" id="{70503D32-AD38-4360-8493-FAD2F87846FC}"/>
              </a:ext>
            </a:extLst>
          </p:cNvPr>
          <p:cNvPicPr>
            <a:picLocks noChangeAspect="1"/>
          </p:cNvPicPr>
          <p:nvPr/>
        </p:nvPicPr>
        <p:blipFill>
          <a:blip r:embed="rId2">
            <a:alphaModFix amt="20000"/>
            <a:extLst>
              <a:ext uri="{837473B0-CC2E-450A-ABE3-18F120FF3D39}">
                <a1611:picAttrSrcUrl xmlns:a1611="http://schemas.microsoft.com/office/drawing/2016/11/main" xmlns="" r:id="rId3"/>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225405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F4D63-ABE4-4BBF-B966-D454F0B112D6}"/>
              </a:ext>
            </a:extLst>
          </p:cNvPr>
          <p:cNvSpPr>
            <a:spLocks noGrp="1"/>
          </p:cNvSpPr>
          <p:nvPr>
            <p:ph type="title"/>
          </p:nvPr>
        </p:nvSpPr>
        <p:spPr>
          <a:xfrm>
            <a:off x="444623" y="195309"/>
            <a:ext cx="6554867" cy="781235"/>
          </a:xfrm>
        </p:spPr>
        <p:txBody>
          <a:bodyPr/>
          <a:lstStyle/>
          <a:p>
            <a:r>
              <a:rPr lang="en-US" dirty="0">
                <a:solidFill>
                  <a:schemeClr val="bg1"/>
                </a:solidFill>
                <a:latin typeface="Algerian" panose="04020705040A02060702" pitchFamily="82" charset="0"/>
              </a:rPr>
              <a:t>CONCLUSION</a:t>
            </a:r>
            <a:endParaRPr lang="en-IN" dirty="0">
              <a:solidFill>
                <a:schemeClr val="bg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0573CF9A-4C19-46DE-8DDF-6D734D02B4BC}"/>
              </a:ext>
            </a:extLst>
          </p:cNvPr>
          <p:cNvSpPr>
            <a:spLocks noGrp="1"/>
          </p:cNvSpPr>
          <p:nvPr>
            <p:ph idx="1"/>
          </p:nvPr>
        </p:nvSpPr>
        <p:spPr>
          <a:xfrm>
            <a:off x="444623" y="1180730"/>
            <a:ext cx="8069062" cy="3124940"/>
          </a:xfrm>
        </p:spPr>
        <p:txBody>
          <a:bodyPr>
            <a:normAutofit/>
          </a:bodyPr>
          <a:lstStyle/>
          <a:p>
            <a:r>
              <a:rPr lang="en-IN" sz="2400" b="0" i="0" dirty="0" err="1">
                <a:solidFill>
                  <a:schemeClr val="bg1"/>
                </a:solidFill>
                <a:effectLst/>
                <a:latin typeface="Aparajita" panose="02020603050405020304" pitchFamily="18" charset="0"/>
                <a:cs typeface="Aparajita" panose="02020603050405020304" pitchFamily="18" charset="0"/>
              </a:rPr>
              <a:t>Analyzing</a:t>
            </a:r>
            <a:r>
              <a:rPr lang="en-IN" sz="2400" b="0" i="0" dirty="0">
                <a:solidFill>
                  <a:schemeClr val="bg1"/>
                </a:solidFill>
                <a:effectLst/>
                <a:latin typeface="Aparajita" panose="02020603050405020304" pitchFamily="18" charset="0"/>
                <a:cs typeface="Aparajita" panose="02020603050405020304" pitchFamily="18" charset="0"/>
              </a:rPr>
              <a:t> airline data is pivotal for driving strategic decision-making, enhancing operational efficiency, and ultimately, fostering the overall success and competitiveness of the airline industry. By harnessing data analytics techniques, airlines can extract valuable insights from diverse sources such as passenger bookings, flight performance metrics, and customer feedback. These insights inform decisions across various domains including route optimization, pricing strategies, fleet management</a:t>
            </a:r>
            <a:endParaRPr lang="en-IN" sz="2400" dirty="0">
              <a:solidFill>
                <a:schemeClr val="bg1"/>
              </a:solidFill>
              <a:latin typeface="Aparajita" panose="02020603050405020304" pitchFamily="18" charset="0"/>
              <a:cs typeface="Aparajita" panose="02020603050405020304" pitchFamily="18" charset="0"/>
            </a:endParaRPr>
          </a:p>
        </p:txBody>
      </p:sp>
      <p:pic>
        <p:nvPicPr>
          <p:cNvPr id="5" name="Picture 4">
            <a:extLst>
              <a:ext uri="{FF2B5EF4-FFF2-40B4-BE49-F238E27FC236}">
                <a16:creationId xmlns:a16="http://schemas.microsoft.com/office/drawing/2014/main" id="{E798D5E4-B5B3-4A2F-B6AF-1957F7CB9EDE}"/>
              </a:ext>
            </a:extLst>
          </p:cNvPr>
          <p:cNvPicPr>
            <a:picLocks noChangeAspect="1"/>
          </p:cNvPicPr>
          <p:nvPr/>
        </p:nvPicPr>
        <p:blipFill>
          <a:blip r:embed="rId2">
            <a:alphaModFix amt="35000"/>
            <a:extLst>
              <a:ext uri="{837473B0-CC2E-450A-ABE3-18F120FF3D39}">
                <a1611:picAttrSrcUrl xmlns:a1611="http://schemas.microsoft.com/office/drawing/2016/11/main" xmlns="" r:id="rId3"/>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4168755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F12A79-7666-46C5-B278-DFF3963413A4}"/>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0F13CBF-4849-44F5-99F2-10159288F6E7}"/>
              </a:ext>
            </a:extLst>
          </p:cNvPr>
          <p:cNvPicPr>
            <a:picLocks noGrp="1" noChangeAspect="1"/>
          </p:cNvPicPr>
          <p:nvPr>
            <p:ph idx="1"/>
          </p:nvPr>
        </p:nvPicPr>
        <p:blipFill>
          <a:blip r:embed="rId2">
            <a:alphaModFix/>
            <a:extLst>
              <a:ext uri="{837473B0-CC2E-450A-ABE3-18F120FF3D39}">
                <a1611:picAttrSrcUrl xmlns:a1611="http://schemas.microsoft.com/office/drawing/2016/11/main" xmlns="" r:id="rId3"/>
              </a:ext>
            </a:extLst>
          </a:blip>
          <a:stretch>
            <a:fillRect/>
          </a:stretch>
        </p:blipFill>
        <p:spPr>
          <a:xfrm>
            <a:off x="0" y="0"/>
            <a:ext cx="9144000" cy="6858000"/>
          </a:xfrm>
        </p:spPr>
      </p:pic>
    </p:spTree>
    <p:extLst>
      <p:ext uri="{BB962C8B-B14F-4D97-AF65-F5344CB8AC3E}">
        <p14:creationId xmlns:p14="http://schemas.microsoft.com/office/powerpoint/2010/main" val="545960376"/>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3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2700"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478</TotalTime>
  <Words>814</Words>
  <Application>Microsoft Office PowerPoint</Application>
  <PresentationFormat>On-screen Show (4:3)</PresentationFormat>
  <Paragraphs>61</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Algerian</vt:lpstr>
      <vt:lpstr>Aparajita</vt:lpstr>
      <vt:lpstr>Arial Black</vt:lpstr>
      <vt:lpstr>Calibri</vt:lpstr>
      <vt:lpstr>Century Gothic</vt:lpstr>
      <vt:lpstr>Wingdings 3</vt:lpstr>
      <vt:lpstr>Slice</vt:lpstr>
      <vt:lpstr>Presentation on: HIGHCLOUDS AIRLINES DATA ANALYSIS PROJECT</vt:lpstr>
      <vt:lpstr>Overview</vt:lpstr>
      <vt:lpstr>OBJECTIVE</vt:lpstr>
      <vt:lpstr>PREFERRED DEPARTURE</vt:lpstr>
      <vt:lpstr>Excel dashboard</vt:lpstr>
      <vt:lpstr>POWERBI DASHBOARD</vt:lpstr>
      <vt:lpstr>TABLEAU DASHBOARD</vt:lpstr>
      <vt:lpstr>PowerPoint Presentation</vt:lpstr>
      <vt:lpstr>What we have learnt from this project</vt:lpstr>
      <vt:lpstr>RECOMMENDATION</vt:lpstr>
      <vt:lpstr>PROJECT SCOPE</vt:lpstr>
      <vt:lpstr>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Seela Kar</dc:creator>
  <cp:keywords/>
  <dc:description>generated using python-pptx</dc:description>
  <cp:lastModifiedBy>DELL</cp:lastModifiedBy>
  <cp:revision>23</cp:revision>
  <dcterms:created xsi:type="dcterms:W3CDTF">2013-01-27T09:14:16Z</dcterms:created>
  <dcterms:modified xsi:type="dcterms:W3CDTF">2026-05-13T19:02:04Z</dcterms:modified>
  <cp:category/>
</cp:coreProperties>
</file>